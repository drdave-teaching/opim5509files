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Videos 4-6 of M3.1: Size &amp; Trainable Parameters Pt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Code &lt;-&gt; summary in both directions.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hook: 407K vs 20K.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letters as the cheat sheet and the notebook. Drill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anchor slide. Everything after is these two lines applied eight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Quick recall, then we start 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grayscale channel. Batch prints as None - decided at fit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conv: L=1 (grayscale). 25 weights + 1 bias per filter, 3 filters. Output channels = F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2x2 kernel, stride 2, no overlap: halves it. Same 3 maps, just smaller.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TRAP SLIDE. L=3 because pooling handed us 3 maps. Each filter is a 3x3x3 brick: 27 weights + 1 bias, x3 filters = 84.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Halve it again. Dense 5x5x3 nuggets of information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Unroll the maps into one row of 75 numbers - like the first row of a dataframe. Ready for dense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2 formula, unchanged. This is where most of the parms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Binary classification, softmax over 2 nodes. Regression would be 1 node, linear.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1 ends here. The chain IS the cheat-sheet answer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2: model 2 in the notebook. The calculator cell proves 22,794.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 3: change channels 1-&gt;3 in input_shape. Only the FIRST conv layer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Wrap the recorded portion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to record - students love the handwritten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verified alive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7708392" y="1752599"/>
            <a:ext cx="1388059" cy="4191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08392" y="2171700"/>
            <a:ext cx="1388059" cy="4190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08392" y="21717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7708392" y="2171700"/>
            <a:ext cx="1388059" cy="20954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08392" y="2171700"/>
            <a:ext cx="1388059" cy="29337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7708392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08392" y="25907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708392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08392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08392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708392" y="1752599"/>
            <a:ext cx="1388059" cy="29337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708392" y="2590799"/>
            <a:ext cx="1388059" cy="20955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7708392" y="3429000"/>
            <a:ext cx="1388059" cy="12573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708392" y="4267199"/>
            <a:ext cx="1388059" cy="4191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708392" y="4686300"/>
            <a:ext cx="1388059" cy="4191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96451" y="17525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096451" y="1752599"/>
            <a:ext cx="1388059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9096451" y="1752599"/>
            <a:ext cx="1388059" cy="8382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096451" y="2590799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096451" y="2590799"/>
            <a:ext cx="1388059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9096451" y="1752599"/>
            <a:ext cx="1388059" cy="16764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9096451" y="25907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096451" y="3429000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9096451" y="1752599"/>
            <a:ext cx="1388059" cy="25146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9096451" y="2590799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9096451" y="3429000"/>
            <a:ext cx="1388059" cy="838199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9096451" y="4267199"/>
            <a:ext cx="1388059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9096451" y="4267199"/>
            <a:ext cx="1388059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9096451" y="1752599"/>
            <a:ext cx="1388059" cy="33528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96451" y="2590799"/>
            <a:ext cx="1388059" cy="25146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9096451" y="3429000"/>
            <a:ext cx="1388059" cy="167640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9096451" y="4267199"/>
            <a:ext cx="1388059" cy="838201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096451" y="5105400"/>
            <a:ext cx="1388059" cy="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484510" y="1752599"/>
            <a:ext cx="1135685" cy="16764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484510" y="2590799"/>
            <a:ext cx="1135685" cy="838201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484510" y="3429000"/>
            <a:ext cx="1135685" cy="0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10484510" y="3429000"/>
            <a:ext cx="1135685" cy="838199"/>
          </a:xfrm>
          <a:prstGeom prst="line">
            <a:avLst/>
          </a:prstGeom>
          <a:ln w="11430">
            <a:solidFill>
              <a:srgbClr val="3A3D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0484510" y="3429000"/>
            <a:ext cx="1135685" cy="1676400"/>
          </a:xfrm>
          <a:prstGeom prst="line">
            <a:avLst/>
          </a:prstGeom>
          <a:ln w="1778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7589519" y="20528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58951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589519" y="45674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977579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8977579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977579" y="33101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977579" y="4148327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8977579" y="49865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0365638" y="16337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0365638" y="24719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0365638" y="3310128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0365638" y="4148327"/>
            <a:ext cx="237744" cy="237744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0365638" y="4986528"/>
            <a:ext cx="237744" cy="237744"/>
          </a:xfrm>
          <a:prstGeom prst="ellipse">
            <a:avLst/>
          </a:prstGeom>
          <a:solidFill>
            <a:srgbClr val="343740"/>
          </a:solidFill>
          <a:ln w="15240">
            <a:solidFill>
              <a:srgbClr val="5A5D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19027" y="3227832"/>
            <a:ext cx="402336" cy="40233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7240" y="182880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205740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F2B705"/>
                </a:solidFill>
                <a:latin typeface="Arial"/>
              </a:rPr>
              <a:t>OPIM 5509  -  MODULE 3.1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2514600"/>
            <a:ext cx="69494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Math for a</a:t>
            </a:r>
          </a:p>
          <a:p>
            <a:pPr algn="l"/>
            <a:r>
              <a:rPr sz="5400" b="1">
                <a:solidFill>
                  <a:srgbClr val="F5F5F7"/>
                </a:solidFill>
                <a:latin typeface="Arial"/>
              </a:rPr>
              <a:t>Simple ConvNet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7240" y="4663440"/>
            <a:ext cx="6583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A8ABB4"/>
                </a:solidFill>
                <a:latin typeface="Arial"/>
              </a:rPr>
              <a:t>Rebuild model.summary() by hand  -  pairs with Simple_Size_and_Param.ipynb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mission</a:t>
            </a:r>
          </a:p>
        </p:txBody>
      </p:sp>
      <p:pic>
        <p:nvPicPr>
          <p:cNvPr id="6" name="Picture 5" descr="s0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20404"/>
            <a:ext cx="5212080" cy="3840150"/>
          </a:xfrm>
          <a:prstGeom prst="rect">
            <a:avLst/>
          </a:prstGeom>
        </p:spPr>
      </p:pic>
      <p:pic>
        <p:nvPicPr>
          <p:cNvPr id="7" name="Picture 6" descr="s02_img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218363"/>
            <a:ext cx="5212080" cy="24212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5029200"/>
            <a:ext cx="52120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>
                <a:solidFill>
                  <a:srgbClr val="1C1E24"/>
                </a:solidFill>
                <a:latin typeface="Arial"/>
              </a:rPr>
              <a:t>Given the code on the left, can you produce the summary on the right - every shape, every parameter count - BY HAND?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780A"/>
                </a:solidFill>
                <a:latin typeface="Arial"/>
              </a:rPr>
              <a:t>That is mastery. That is also the exam.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Why ConvNets? Look at the parms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525780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YOUR M2 MNIST DENSE 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787C86"/>
                </a:solidFill>
                <a:latin typeface="Arial"/>
              </a:rPr>
              <a:t>~407,000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parameters - and it falls apart if the digit moves off-center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103120"/>
            <a:ext cx="5166360" cy="310896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5146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C6908"/>
                </a:solidFill>
                <a:latin typeface="Arial"/>
              </a:rPr>
              <a:t>TODAY'S CONVNET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7180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1C1E24"/>
                </a:solidFill>
                <a:latin typeface="Arial"/>
              </a:rPr>
              <a:t>20,132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0690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1C1E24"/>
                </a:solidFill>
                <a:latin typeface="Arial"/>
              </a:rPr>
              <a:t>parameters - 20x fewer, and it handles shifted/rotated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Fewer parameters, better behavior. The rest of this deck shows exactly where 20,132 comes from.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cast of characters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30552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M,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2139696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filter size (e.g. a 5 x 5 kernel)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798064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1693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926080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channels coming INTO this layer - image: 1 BW / 3 RGB; deeper: the previous layer's 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584448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712463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bias - always 1 PER FILTER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370832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8970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498848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feature maps this layer creates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157216"/>
            <a:ext cx="1554480" cy="640080"/>
          </a:xfrm>
          <a:prstGeom prst="roundRect">
            <a:avLst>
              <a:gd name="adj" fmla="val 25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7608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AD878"/>
                </a:solidFill>
                <a:latin typeface="Arial"/>
              </a:rPr>
              <a:t>Stride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5285232"/>
            <a:ext cx="8778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C1E24"/>
                </a:solidFill>
                <a:latin typeface="Arial"/>
              </a:rPr>
              <a:t>always 1 in our conv layers (so it never appears in the formulas)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06040" y="5989320"/>
            <a:ext cx="877824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6080760"/>
            <a:ext cx="8412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The L is the trap: from layer 2 on, L = the previous layer's F. Not RGB!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Only two formulas to rule them 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671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 (CONV, NO PADDING)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new size = old size - (M - 1)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shapes print as (BATCH, ROWS, COLS, CHANNELS) - batch is None until you fit; channels = that layer's 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794760"/>
            <a:ext cx="10652760" cy="16002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995928"/>
            <a:ext cx="10012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38912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500" b="1">
                <a:solidFill>
                  <a:srgbClr val="1C1E24"/>
                </a:solidFill>
                <a:latin typeface="Arial"/>
              </a:rPr>
              <a:t>Conv2D:  ((M x N x L) + B) x F        Dense:  (n + 1) x m        Pooling / Flatten:  0</a:t>
            </a:r>
          </a:p>
          <a:p>
            <a:pPr algn="l">
              <a:lnSpc>
                <a:spcPct val="120000"/>
              </a:lnSpc>
            </a:pPr>
            <a:r>
              <a:rPr sz="1400" b="0">
                <a:solidFill>
                  <a:srgbClr val="787C86"/>
                </a:solidFill>
                <a:latin typeface="Arial"/>
              </a:rPr>
              <a:t>pooling is naive - just max values, nothing to learn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Reminder: what Conv2D is doing</a:t>
            </a:r>
          </a:p>
        </p:txBody>
      </p:sp>
      <p:pic>
        <p:nvPicPr>
          <p:cNvPr id="6" name="Picture 5" descr="s0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230" y="1920240"/>
            <a:ext cx="9927058" cy="3840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787C86"/>
                </a:solidFill>
                <a:latin typeface="Arial"/>
              </a:rPr>
              <a:t>Sliding kernel, stride 1, lots of overlap - the map shrinks a little. Light downsampling.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Start here: the input image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24, 24, 3)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Given in the code: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input_shape = (28, 28, 1)</a:t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28, 28, 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to learn yet...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1 - Conv2D: 3 maps @ 5x5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12, 12, 3)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28 - (5 - 1)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24   -&gt;   (None, 24, 24, 3)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((5 x 5 x 1) + 1)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78 parms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2 -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10, 10, 3)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24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12   -&gt;   (None, 12, 12, 3)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Nothing is learned - naive max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3 - Conv2D: 3 maps @ 3x3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5, 5, 3)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12 - (3 - 1)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10   -&gt;   (None, 10, 10, 3)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((3 x 3 x 3) + 1)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84 parms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78 + 84 = 162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3640" y="2395728"/>
            <a:ext cx="5166360" cy="51206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2487168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81A20"/>
                </a:solidFill>
                <a:latin typeface="Arial"/>
              </a:rPr>
              <a:t>CAREFUL: L = 3 now - the previous layer made 3 maps!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4 - MaxPooling 2x2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75)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10 /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   -&gt;   (None, 5, 5, 3)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Still nothing to learn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5 - Flatten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256)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5 x 5 x 3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75   -&gt;   (None, 75)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Just reshaping - no weights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0 parms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6 - Dense 256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C8C6B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EDEBE4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B4B2AA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B4B2AA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256 hidden units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256)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(75 + 1) x 256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19,456 parms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162 + 19,456 = 19,618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1C1E24"/>
                </a:solidFill>
                <a:latin typeface="Arial"/>
              </a:rPr>
              <a:t>Layer 7 - Dense 2 (softmax)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26314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1783080"/>
            <a:ext cx="1298448" cy="96012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1874519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16712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243230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245516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063240"/>
            <a:ext cx="525780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326440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OUTPUT SIZE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3630168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2 output nodes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(None, 2)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63640" y="3063240"/>
            <a:ext cx="5166360" cy="23317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79" y="326440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TRAINABLE PARMS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3630168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>(256 + 1) x 2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787C86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3000" b="1">
                <a:solidFill>
                  <a:srgbClr val="1C1E24"/>
                </a:solidFill>
                <a:latin typeface="Arial"/>
              </a:rPr>
              <a:t>= 514 parms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7240" y="5596128"/>
            <a:ext cx="10652760" cy="566928"/>
          </a:xfrm>
          <a:prstGeom prst="roundRect">
            <a:avLst>
              <a:gd name="adj" fmla="val 50000"/>
            </a:avLst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57104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A8ABB4"/>
                </a:solidFill>
                <a:latin typeface="Arial"/>
              </a:rPr>
              <a:t>RUNNING TOTAL:  </a:t>
            </a:r>
            <a:r>
              <a:rPr sz="1800" b="1">
                <a:solidFill>
                  <a:srgbClr val="FAD878"/>
                </a:solidFill>
                <a:latin typeface="Arial"/>
              </a:rPr>
              <a:t>19,618 + 514 = 20,132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The whole chain - check the summary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99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286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542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28, 28, 1)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74558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86903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389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5x5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9646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24, 24, 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1533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533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78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17662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0006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493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50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12, 12, 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4637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4637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07661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731105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85969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Conv2D 3 @ 3x3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8537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10, 10, 3)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7409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7409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84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38697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162141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005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89573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5, 5, 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8445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8445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469733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593177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C8C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48041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Flatten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609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75)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39481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E1DF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39481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787C86"/>
                </a:solidFill>
                <a:latin typeface="Arial"/>
              </a:rPr>
              <a:t>0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900769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9024213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19050">
            <a:solidFill>
              <a:srgbClr val="8C69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79077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51645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256)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70517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70517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19,456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31805" y="2788920"/>
            <a:ext cx="114300" cy="0"/>
          </a:xfrm>
          <a:prstGeom prst="line">
            <a:avLst/>
          </a:prstGeom>
          <a:ln w="27940">
            <a:solidFill>
              <a:srgbClr val="8C690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10455249" y="2103120"/>
            <a:ext cx="1298448" cy="1371600"/>
          </a:xfrm>
          <a:prstGeom prst="roundRect">
            <a:avLst>
              <a:gd name="adj" fmla="val 14000"/>
            </a:avLst>
          </a:prstGeom>
          <a:solidFill>
            <a:srgbClr val="FCFCFA"/>
          </a:solidFill>
          <a:ln w="381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10113" y="2194560"/>
            <a:ext cx="1188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1C1E24"/>
                </a:solidFill>
                <a:latin typeface="Arial"/>
              </a:rPr>
              <a:t>Dense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82681" y="2487168"/>
            <a:ext cx="12435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787C86"/>
                </a:solidFill>
                <a:latin typeface="Arial"/>
              </a:rPr>
              <a:t>(None, 2)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601553" y="3163824"/>
            <a:ext cx="1005839" cy="237744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1553" y="3186684"/>
            <a:ext cx="100583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181A20"/>
                </a:solidFill>
                <a:latin typeface="Arial"/>
              </a:rPr>
              <a:t>514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7240" y="3931920"/>
            <a:ext cx="10652760" cy="137160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97280" y="42062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C1E24"/>
                </a:solidFill>
                <a:latin typeface="Arial"/>
              </a:rPr>
              <a:t>TOTAL  =  78 + 84 + 19,456 + 514  =  20,132</a:t>
            </a:r>
          </a:p>
          <a:p>
            <a:pPr algn="l">
              <a:lnSpc>
                <a:spcPct val="120000"/>
              </a:lnSpc>
            </a:pPr>
            <a:r>
              <a:rPr sz="1500" b="0">
                <a:solidFill>
                  <a:srgbClr val="787C86"/>
                </a:solidFill>
                <a:latin typeface="Arial"/>
              </a:rPr>
              <a:t>exactly what model.summary() prints - run the notebook and check yourself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77840"/>
            <a:ext cx="10652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9A780A"/>
                </a:solidFill>
                <a:latin typeface="Arial"/>
              </a:rPr>
              <a:t>If your chain matches the summary shape-for-shape and parm-for-parm, you own this material.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2: ugly numbers (no eyeballing!)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29968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29 @ 5x5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2029968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24, 24, 29)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02996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((5x5x1)+1) x 29  =  754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633472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" y="2816352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16352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12, 12, 29)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2816352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7240" y="3419856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77240" y="3602736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Conv2D 87 @ 3x3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02736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10, 10, 87)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3602736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((3x3x29)+1) x 87  =  22,794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77240" y="4206240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77240" y="4389120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MaxPool 2x2 -&gt; Flatten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38912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5, 5, 87) -&gt; (None, 2175)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43891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7240" y="4992624"/>
            <a:ext cx="10652760" cy="0"/>
          </a:xfrm>
          <a:prstGeom prst="line">
            <a:avLst/>
          </a:prstGeom>
          <a:ln w="12700">
            <a:solidFill>
              <a:srgbClr val="E0DE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77240" y="5175504"/>
            <a:ext cx="2788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1E24"/>
                </a:solidFill>
                <a:latin typeface="Arial"/>
              </a:rPr>
              <a:t>Dense 256 -&gt; Dense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5175504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787C86"/>
                </a:solidFill>
                <a:latin typeface="Arial"/>
              </a:rPr>
              <a:t>(None, 256) -&gt; (None, 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5175504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>
                <a:solidFill>
                  <a:srgbClr val="1C1E24"/>
                </a:solidFill>
                <a:latin typeface="Arial"/>
              </a:rPr>
              <a:t>(2175+1)x256 = 557,056  ·  (256+1)x2 = 514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742432"/>
            <a:ext cx="10652760" cy="502920"/>
          </a:xfrm>
          <a:prstGeom prst="roundRect">
            <a:avLst>
              <a:gd name="adj" fmla="val 50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833872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81A20"/>
                </a:solidFill>
                <a:latin typeface="Arial"/>
              </a:rPr>
              <a:t>29 maps and 87 filters exist so you CANNOT eyeball it - the formula is the only way through. Try before peeking!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Round 3: play with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25780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212848"/>
            <a:ext cx="4617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GRAYSCALE (L =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1)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754 parms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011680"/>
            <a:ext cx="5166360" cy="329184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79" y="2212848"/>
            <a:ext cx="4526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NOW MAKE IT RGB (L =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83464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787C86"/>
                </a:solidFill>
                <a:latin typeface="Arial"/>
              </a:rPr>
              <a:t>((5 x 5 x 3) + 1) x 29</a:t>
            </a:r>
          </a:p>
          <a:p>
            <a:pPr algn="l">
              <a:lnSpc>
                <a:spcPct val="110000"/>
              </a:lnSpc>
            </a:pPr>
            <a:r>
              <a:rPr sz="1000" b="0">
                <a:solidFill>
                  <a:srgbClr val="1C1E24"/>
                </a:solidFill>
                <a:latin typeface="Arial"/>
              </a:rPr>
              <a:t/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1C1E24"/>
                </a:solidFill>
                <a:latin typeface="Arial"/>
              </a:rPr>
              <a:t>= 2,204 parms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577840"/>
            <a:ext cx="10652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9A780A"/>
                </a:solidFill>
                <a:latin typeface="Arial"/>
              </a:rPr>
              <a:t>PREDICT before you run the cell. 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1C1E24"/>
                </a:solidFill>
                <a:latin typeface="Arial"/>
              </a:rPr>
              <a:t>Then grab the cheat sheet and do one full chain by hand - that is the whole assignment-prep loop.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MODULE 3.1 - SIZE &amp; TRAINABLE PARAMETERS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Your toolkit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NOTEBOOK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Simple_Size_and_Param.ipynb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both models pre-built: run, then rebuild by 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CHEAT 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79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ConvNet Math Cheat Sheet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every formula + a worked answer table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2103120"/>
            <a:ext cx="3383280" cy="3017520"/>
          </a:xfrm>
          <a:prstGeom prst="roundRect">
            <a:avLst>
              <a:gd name="adj" fmla="val 6000"/>
            </a:avLst>
          </a:prstGeom>
          <a:solidFill>
            <a:srgbClr val="FFFBEE"/>
          </a:solidFill>
          <a:ln w="2794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30428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8C6908"/>
                </a:solidFill>
                <a:latin typeface="Arial"/>
              </a:rPr>
              <a:t>THE PLAYGROUND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2743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C1E24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9476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87C86"/>
                </a:solidFill>
                <a:latin typeface="Arial"/>
              </a:rPr>
              <a:t>drag kernel values, watch the image respond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486400"/>
            <a:ext cx="10652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787C86"/>
                </a:solidFill>
                <a:latin typeface="Arial"/>
              </a:rPr>
              <a:t>All three are linked on the HuskyCT M3.1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377440"/>
            <a:ext cx="1280160" cy="6400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5F5F7"/>
                </a:solidFill>
                <a:latin typeface="Arial"/>
              </a:rPr>
              <a:t>The same math, by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6908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A8ABB4"/>
                </a:solidFill>
                <a:latin typeface="Arial"/>
              </a:rPr>
              <a:t>My handwritten walkthrough of the full chain - keep it next to the notebook when you practice.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7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609" y="228600"/>
            <a:ext cx="903430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8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0186" y="228600"/>
            <a:ext cx="904114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19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301" y="228600"/>
            <a:ext cx="9222917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0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9659" y="228600"/>
            <a:ext cx="912220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1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570" y="228600"/>
            <a:ext cx="8894378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2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4074" y="228599"/>
            <a:ext cx="9013371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3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506" y="228600"/>
            <a:ext cx="9378506" cy="6309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4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3847" y="228600"/>
            <a:ext cx="9213824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25_img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184" y="228600"/>
            <a:ext cx="9383150" cy="63093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502920"/>
            <a:ext cx="868680" cy="50292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9A780A"/>
                </a:solidFill>
                <a:latin typeface="Arial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9601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C1E24"/>
                </a:solidFill>
                <a:latin typeface="Arial"/>
              </a:rPr>
              <a:t>Good links (great reading, too)</a:t>
            </a:r>
          </a:p>
        </p:txBody>
      </p:sp>
      <p:sp>
        <p:nvSpPr>
          <p:cNvPr id="6" name="Oval 5"/>
          <p:cNvSpPr/>
          <p:nvPr/>
        </p:nvSpPr>
        <p:spPr>
          <a:xfrm>
            <a:off x="777240" y="217627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Visualizing ConvNets with Keras and cats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323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hackernoon.com/visualizing-parts-of-convolutional-neural-networks-using-keras-and-cats-5cc01b214e59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5351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5292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Image kernels, explained visually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20954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setosa.io/ev/image-kernels</a:t>
            </a:r>
          </a:p>
        </p:txBody>
      </p:sp>
      <p:sp>
        <p:nvSpPr>
          <p:cNvPr id="12" name="Oval 11"/>
          <p:cNvSpPr/>
          <p:nvPr/>
        </p:nvSpPr>
        <p:spPr>
          <a:xfrm>
            <a:off x="777240" y="373075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630168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Easy-peasy 2D convolution (with video)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98678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ricardodeazambuja.com - easy-peasy_conv_deep_learning_two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4507992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40740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Stanford CS231n ConvNet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76402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cs231n.github.io/convolutional-networks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5285231"/>
            <a:ext cx="128016" cy="128016"/>
          </a:xfrm>
          <a:prstGeom prst="ellipse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5184647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1C1E24"/>
                </a:solidFill>
                <a:latin typeface="Arial"/>
              </a:rPr>
              <a:t>The StackOverflow param-counting classic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5541264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stackoverflow.com/questions/42786717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36576"/>
          </a:xfrm>
          <a:prstGeom prst="rect">
            <a:avLst/>
          </a:prstGeom>
          <a:solidFill>
            <a:srgbClr val="8C69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291072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87C86"/>
                </a:solidFill>
                <a:latin typeface="Arial"/>
              </a:rPr>
              <a:t>OPIM 5509 · Introduction to Deep Learning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0297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787C86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