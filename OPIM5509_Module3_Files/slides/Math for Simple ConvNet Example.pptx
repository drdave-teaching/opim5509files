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tackoverflow.com/questions/42786717/how-to-calculate-the-number-of-parameters-for-convolutional-neural-network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image" Target="../media/image12.png"/><Relationship Id="rId10" Type="http://schemas.openxmlformats.org/officeDocument/2006/relationships/image" Target="../media/image22.png"/><Relationship Id="rId11" Type="http://schemas.openxmlformats.org/officeDocument/2006/relationships/image" Target="../media/image21.png"/><Relationship Id="rId12" Type="http://schemas.openxmlformats.org/officeDocument/2006/relationships/image" Target="../media/image29.png"/><Relationship Id="rId1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setosa.io/ev/image-kernels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hackernoon.com/visualizing-parts-of-convolutional-neural-networks-using-keras-and-cats-5cc01b214e59" TargetMode="External"/><Relationship Id="rId4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setosa.io/ev/image-kernels/" TargetMode="External"/><Relationship Id="rId4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ricardodeazambuja.com/deep_learning/2017/03/05/easy-peasy_conv_deep_learning_two/" TargetMode="External"/><Relationship Id="rId4" Type="http://schemas.openxmlformats.org/officeDocument/2006/relationships/hyperlink" Target="http://intellabs.github.io/RiverTrail/tutorial/" TargetMode="External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cs231n.github.io/convolutional-networks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tackoverflow.com/questions/42786717/how-to-calculate-the-number-of-parameters-for-convolutional-neural-network" TargetMode="Externa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Math for Simple ConvNet Example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en-US"/>
              <a:t>Loosely </a:t>
            </a:r>
            <a:r>
              <a:rPr lang="en-US"/>
              <a:t>corresponds to StackOverflow example: 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https://stackoverflow.com/questions/42786717/how-to-calculate-the-number-of-parameters-for-convolutional-neural-network</a:t>
            </a:r>
            <a:r>
              <a:rPr lang="en-US" sz="3100"/>
              <a:t> </a:t>
            </a:r>
            <a:endParaRPr sz="31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… except I decreased the kernels in the Conv2D layers so that I could show you what happens visually!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Later on, I’ll show you my handwritten math solution for the StackOverflow example.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simple ConvNet Example 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-7" y="5950566"/>
            <a:ext cx="11237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 give you just the image on the left, can you do the math and get the image on the right?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 gave you the code on the left, could you add meaningful comments and describe the arguments to the functions?</a:t>
            </a:r>
            <a:endParaRPr/>
          </a:p>
          <a:p>
            <a:pPr indent="0" lvl="8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have mastery of what everything means on this slide!!!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006782" y="1514775"/>
            <a:ext cx="103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Remember… we are just making different representations of data (feature maps) by using different kernels…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388" y="1884096"/>
            <a:ext cx="5256757" cy="387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018" y="2218470"/>
            <a:ext cx="6692593" cy="3109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Look at the number of trainable parms in this ConvNet… 20K!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831273" y="2456873"/>
            <a:ext cx="899663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about how many hidden units and layers you would need to get that close - your Module 2 MNIST dense network needed ~407,000 parameters for the same kind of job. 20x more!</a:t>
            </a:r>
            <a:endParaRPr sz="1700"/>
          </a:p>
          <a:p>
            <a:pPr indent="-3048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remember how DNNs can’t handle rotated/augmented data… but that ConvNets can!</a:t>
            </a:r>
            <a:endParaRPr sz="1700"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Size of the outputted feature maps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838200" y="1582018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M, 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filter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will always be 1 for our examples (not needed in formula)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is the number of channels coming INTO this layer (input image: 1 BW / 3 RGB; deeper layers: the previous layer's F)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bias, and it’s always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feature maps that will be created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38201" y="3428825"/>
            <a:ext cx="106872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you need the size of the rows and columns…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of rows and columns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(S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(m-1)) # this gives you rows and 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true when there is no padding (which we will use in our class - always perfectly pick our kernel sizes so we don’t have any remainders).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convention 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(BATCH, ROWS, COLUMNS, CHANNELS)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is always “NONE” (you decide the batch when you fit the model!)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 and COLUMNS are calculated above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CHANNELS are the number of FEATURE MAPS that are created after convolution layers (given in the code).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9922750" y="23450"/>
            <a:ext cx="2269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reminder...</a:t>
            </a:r>
            <a:endParaRPr b="1" i="1"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Number of trainable parameters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350982" y="2272145"/>
            <a:ext cx="618079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M, 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filter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will always be 1 for our examples (not needed in formula)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is the number of channels coming INTO this layer (input image: 1 BW / 3 RGB; deeper layers: the previous layer's F)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bias, and it’s always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feature maps that will be created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838200" y="4590473"/>
            <a:ext cx="701198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Conv2D layers, it’s…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trainable parms = ((M * N * L) +B) * 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Flatten to Dense, or Hidden to Hidden, or Hidden to Output, it’s…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trainable parms = (INPUT COLUMNS + B)*HIDDEN UNITS IN OUTPUT LAYER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9922750" y="23450"/>
            <a:ext cx="2269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reminder...</a:t>
            </a:r>
            <a:endParaRPr b="1" i="1"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693503" y="3057236"/>
            <a:ext cx="21492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x 28,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channel (grayscale)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828964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Start Here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-images-1.medium.com/max/1706/1*xBkRA7cVyXGHIrtngV3qlg.pn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486" y="1337912"/>
            <a:ext cx="9593467" cy="371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Convolution2D (light downsampling)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2464359" y="4276436"/>
            <a:ext cx="137099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different feature maps,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of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Size = (5,5).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406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 rotWithShape="1">
          <a:blip r:embed="rId5">
            <a:alphaModFix/>
          </a:blip>
          <a:srcRect b="6355" l="36162" r="415" t="3129"/>
          <a:stretch/>
        </p:blipFill>
        <p:spPr>
          <a:xfrm>
            <a:off x="2686240" y="1681017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 rotWithShape="1">
          <a:blip r:embed="rId6">
            <a:alphaModFix/>
          </a:blip>
          <a:srcRect b="6355" l="36162" r="415" t="3129"/>
          <a:stretch/>
        </p:blipFill>
        <p:spPr>
          <a:xfrm>
            <a:off x="2686240" y="2890981"/>
            <a:ext cx="1149108" cy="11453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693503" y="3057236"/>
            <a:ext cx="1308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0"/>
          <p:cNvCxnSpPr>
            <a:stCxn id="134" idx="3"/>
            <a:endCxn id="136" idx="1"/>
          </p:cNvCxnSpPr>
          <p:nvPr/>
        </p:nvCxnSpPr>
        <p:spPr>
          <a:xfrm flipH="1" rot="10800000">
            <a:off x="2242476" y="978931"/>
            <a:ext cx="443700" cy="111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20"/>
          <p:cNvCxnSpPr>
            <a:stCxn id="134" idx="3"/>
            <a:endCxn id="137" idx="1"/>
          </p:cNvCxnSpPr>
          <p:nvPr/>
        </p:nvCxnSpPr>
        <p:spPr>
          <a:xfrm>
            <a:off x="2242476" y="2089231"/>
            <a:ext cx="443700" cy="1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" name="Google Shape;142;p20"/>
          <p:cNvCxnSpPr>
            <a:stCxn id="134" idx="3"/>
            <a:endCxn id="138" idx="1"/>
          </p:cNvCxnSpPr>
          <p:nvPr/>
        </p:nvCxnSpPr>
        <p:spPr>
          <a:xfrm>
            <a:off x="2242476" y="2089231"/>
            <a:ext cx="443700" cy="137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20"/>
          <p:cNvSpPr txBox="1"/>
          <p:nvPr/>
        </p:nvSpPr>
        <p:spPr>
          <a:xfrm>
            <a:off x="4285673" y="508980"/>
            <a:ext cx="4710545" cy="590931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convolution, we get 3 different feature maps.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were generated with a sliding 5x5 kernel going across the image.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weights are originally random, and updated via backpropagation.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nice 28x28 input image gets slimmed down to 24x24 (light down-sampling) thanks to conv2D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 attention to format of output size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(BATCH, ROW, COLS, CHANNELS)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our example, BATCH is always NONE (this is decided later in the script).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CHANNELS ARE THE FEATURE MAPS. That’s why there’s a 3 in (NONE,24,24,3)… we generated 3 FEATURE MAPS.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CAREFUL AFTER THE SECOND ROUND OF CONV2D (later on)! This is what confuses most students.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89310" y="751895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(NONE,28,28,1)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2437491" y="54633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(NONE,24,24,3)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9319491" y="382563"/>
            <a:ext cx="287250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of resultant feature map = (S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(m-1))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about batch size and the number of feature maps when writing the output shape!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8105560" y="54633"/>
            <a:ext cx="4086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trainable parms = ((M * N * L) +B) * 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2686240" y="6524846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PARM=78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9110350" y="32861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M, 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filter size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will always be 1 for our examples (not needed in formula)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is the number of channels coming INTO this layer (input image: 1 BW / 3 RGB; deeper layers: the previous layer's F)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bias, and it’s always 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feature maps that will be created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/>
        </p:nvSpPr>
        <p:spPr>
          <a:xfrm>
            <a:off x="1496291" y="646545"/>
            <a:ext cx="98435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 (aggressive downsampling)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pooling example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8186" y="1415986"/>
            <a:ext cx="6515822" cy="466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720436" y="5929745"/>
            <a:ext cx="2944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or average? Your choice! Most people just use MaxPooling and move on...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7679171" y="1323622"/>
            <a:ext cx="1634837" cy="1493469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2464359" y="4276436"/>
            <a:ext cx="137099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different feature maps,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of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Size = (5,5)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406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5">
            <a:alphaModFix/>
          </a:blip>
          <a:srcRect b="6355" l="36162" r="415" t="3129"/>
          <a:stretch/>
        </p:blipFill>
        <p:spPr>
          <a:xfrm>
            <a:off x="2686240" y="1681017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6">
            <a:alphaModFix/>
          </a:blip>
          <a:srcRect b="6355" l="36162" r="415" t="3129"/>
          <a:stretch/>
        </p:blipFill>
        <p:spPr>
          <a:xfrm>
            <a:off x="2686240" y="2890981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7114" y="570020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7114" y="1844638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7114" y="3054603"/>
            <a:ext cx="822148" cy="81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4057230" y="4276436"/>
            <a:ext cx="1641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3 feature maps as input (just dimension reduction). Each of the previous maps gets pooled.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93503" y="3057236"/>
            <a:ext cx="1308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2"/>
          <p:cNvCxnSpPr>
            <a:stCxn id="162" idx="3"/>
            <a:endCxn id="164" idx="1"/>
          </p:cNvCxnSpPr>
          <p:nvPr/>
        </p:nvCxnSpPr>
        <p:spPr>
          <a:xfrm flipH="1" rot="10800000">
            <a:off x="2242476" y="978931"/>
            <a:ext cx="443700" cy="111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22"/>
          <p:cNvCxnSpPr>
            <a:stCxn id="162" idx="3"/>
            <a:endCxn id="165" idx="1"/>
          </p:cNvCxnSpPr>
          <p:nvPr/>
        </p:nvCxnSpPr>
        <p:spPr>
          <a:xfrm>
            <a:off x="2242476" y="2089231"/>
            <a:ext cx="443700" cy="1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22"/>
          <p:cNvCxnSpPr>
            <a:stCxn id="162" idx="3"/>
            <a:endCxn id="166" idx="1"/>
          </p:cNvCxnSpPr>
          <p:nvPr/>
        </p:nvCxnSpPr>
        <p:spPr>
          <a:xfrm>
            <a:off x="2242476" y="2089231"/>
            <a:ext cx="443700" cy="137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22"/>
          <p:cNvCxnSpPr>
            <a:stCxn id="164" idx="3"/>
            <a:endCxn id="167" idx="1"/>
          </p:cNvCxnSpPr>
          <p:nvPr/>
        </p:nvCxnSpPr>
        <p:spPr>
          <a:xfrm>
            <a:off x="3835348" y="979054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22"/>
          <p:cNvCxnSpPr>
            <a:stCxn id="165" idx="3"/>
            <a:endCxn id="168" idx="1"/>
          </p:cNvCxnSpPr>
          <p:nvPr/>
        </p:nvCxnSpPr>
        <p:spPr>
          <a:xfrm>
            <a:off x="3835348" y="2253672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22"/>
          <p:cNvCxnSpPr>
            <a:stCxn id="166" idx="3"/>
            <a:endCxn id="169" idx="1"/>
          </p:cNvCxnSpPr>
          <p:nvPr/>
        </p:nvCxnSpPr>
        <p:spPr>
          <a:xfrm>
            <a:off x="3835348" y="3463636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22"/>
          <p:cNvSpPr txBox="1"/>
          <p:nvPr/>
        </p:nvSpPr>
        <p:spPr>
          <a:xfrm>
            <a:off x="6151418" y="2780144"/>
            <a:ext cx="4793673" cy="286232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we used a 2x2 kernel for MaxPooling, our resultant feature maps got halved! From 24x24 to 12x12!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will always be true for a 2x2 kernel… but make sure you use the formula, because I like to throw 3x3 and 5x5 pooling layers at you for giant input images…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trainable parameters for Pooling Layers… it’s naïve… just a bunch of max values…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89310" y="751895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(NONE,28,28,1)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437491" y="54633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(NONE,24,24,3)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3974885" y="216067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(NONE,12,12,3)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686240" y="6524846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PARM=78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4084096" y="6488668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319491" y="382563"/>
            <a:ext cx="287250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of resultant feature map = (S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(m-1))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about batch size and the number of feature maps when writing the output shape!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8105560" y="54633"/>
            <a:ext cx="4086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trainable parms = ((M * N * L) +B) * 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-images-1.medium.com/max/1706/1*xBkRA7cVyXGHIrtngV3qlg.png" id="190" name="Google Shape;1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486" y="1337912"/>
            <a:ext cx="9593467" cy="371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Convolution2D (light downsampling)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2050473" y="4276436"/>
            <a:ext cx="178487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feature maps are created,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of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= (5,5). Lose two rows and two cols on each side.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406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 rotWithShape="1">
          <a:blip r:embed="rId5">
            <a:alphaModFix/>
          </a:blip>
          <a:srcRect b="6355" l="36162" r="415" t="3129"/>
          <a:stretch/>
        </p:blipFill>
        <p:spPr>
          <a:xfrm>
            <a:off x="2686240" y="1681017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 rotWithShape="1">
          <a:blip r:embed="rId6">
            <a:alphaModFix/>
          </a:blip>
          <a:srcRect b="6355" l="36162" r="415" t="3129"/>
          <a:stretch/>
        </p:blipFill>
        <p:spPr>
          <a:xfrm>
            <a:off x="2686240" y="2923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7114" y="572655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7114" y="1844638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76107" y="3049340"/>
            <a:ext cx="822148" cy="8180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3977385" y="4276436"/>
            <a:ext cx="1641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maps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 (just dimension reduction). Each of those maps gets pooled.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693503" y="3057236"/>
            <a:ext cx="14369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channel,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x 28 pixels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257964" y="406399"/>
            <a:ext cx="1043709" cy="114530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4"/>
          <p:cNvCxnSpPr>
            <a:stCxn id="196" idx="3"/>
            <a:endCxn id="198" idx="1"/>
          </p:cNvCxnSpPr>
          <p:nvPr/>
        </p:nvCxnSpPr>
        <p:spPr>
          <a:xfrm flipH="1" rot="10800000">
            <a:off x="2242476" y="978931"/>
            <a:ext cx="443700" cy="111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8" name="Google Shape;208;p24"/>
          <p:cNvCxnSpPr>
            <a:stCxn id="196" idx="3"/>
            <a:endCxn id="199" idx="1"/>
          </p:cNvCxnSpPr>
          <p:nvPr/>
        </p:nvCxnSpPr>
        <p:spPr>
          <a:xfrm>
            <a:off x="2242476" y="2089231"/>
            <a:ext cx="443700" cy="1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24"/>
          <p:cNvCxnSpPr>
            <a:stCxn id="196" idx="3"/>
            <a:endCxn id="200" idx="1"/>
          </p:cNvCxnSpPr>
          <p:nvPr/>
        </p:nvCxnSpPr>
        <p:spPr>
          <a:xfrm>
            <a:off x="2242476" y="2089231"/>
            <a:ext cx="443700" cy="140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0" name="Google Shape;210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6289" y="544944"/>
            <a:ext cx="939606" cy="944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1581" y="1575089"/>
            <a:ext cx="939606" cy="944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36289" y="2551781"/>
            <a:ext cx="939606" cy="944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4"/>
          <p:cNvCxnSpPr>
            <a:stCxn id="206" idx="3"/>
            <a:endCxn id="210" idx="1"/>
          </p:cNvCxnSpPr>
          <p:nvPr/>
        </p:nvCxnSpPr>
        <p:spPr>
          <a:xfrm>
            <a:off x="5301673" y="979053"/>
            <a:ext cx="634500" cy="3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24"/>
          <p:cNvCxnSpPr>
            <a:stCxn id="206" idx="3"/>
            <a:endCxn id="211" idx="1"/>
          </p:cNvCxnSpPr>
          <p:nvPr/>
        </p:nvCxnSpPr>
        <p:spPr>
          <a:xfrm>
            <a:off x="5301673" y="979053"/>
            <a:ext cx="639900" cy="106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24"/>
          <p:cNvCxnSpPr>
            <a:stCxn id="206" idx="3"/>
            <a:endCxn id="212" idx="1"/>
          </p:cNvCxnSpPr>
          <p:nvPr/>
        </p:nvCxnSpPr>
        <p:spPr>
          <a:xfrm>
            <a:off x="5301673" y="979053"/>
            <a:ext cx="634500" cy="204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5761027" y="4276436"/>
            <a:ext cx="179454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Each feature map from the pooling layer undergoes convolution again.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24"/>
          <p:cNvCxnSpPr>
            <a:stCxn id="198" idx="3"/>
            <a:endCxn id="206" idx="1"/>
          </p:cNvCxnSpPr>
          <p:nvPr/>
        </p:nvCxnSpPr>
        <p:spPr>
          <a:xfrm>
            <a:off x="3835348" y="979054"/>
            <a:ext cx="42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24"/>
          <p:cNvCxnSpPr>
            <a:stCxn id="199" idx="3"/>
            <a:endCxn id="202" idx="1"/>
          </p:cNvCxnSpPr>
          <p:nvPr/>
        </p:nvCxnSpPr>
        <p:spPr>
          <a:xfrm>
            <a:off x="3835348" y="2253672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24"/>
          <p:cNvCxnSpPr>
            <a:stCxn id="200" idx="3"/>
            <a:endCxn id="203" idx="1"/>
          </p:cNvCxnSpPr>
          <p:nvPr/>
        </p:nvCxnSpPr>
        <p:spPr>
          <a:xfrm flipH="1" rot="10800000">
            <a:off x="3835348" y="3458254"/>
            <a:ext cx="540900" cy="3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24"/>
          <p:cNvSpPr txBox="1"/>
          <p:nvPr/>
        </p:nvSpPr>
        <p:spPr>
          <a:xfrm>
            <a:off x="7402615" y="833649"/>
            <a:ext cx="4382986" cy="341632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1" lang="en-US" sz="1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THEN FOR ONE POOLED FEATURE MAP…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(implied because our batch size is always NONE).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features were generated for EACH POOLED FEATURE MAP…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may be tempted to consider all of the feature maps from the pooled layer…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DON’T DO IT! This is the hardest part of the exam… keeping track of the batch size.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288927" y="748145"/>
            <a:ext cx="1770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(NONE,28,28,1)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2357113" y="28052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(NONE,24,24,3)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986337" y="4579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(NONE,12,12,3)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5632942" y="210104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(NONE,10,10,3)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2325470" y="6515489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PARM=78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084096" y="6488668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670153" y="6488668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PARM=84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2050473" y="4276436"/>
            <a:ext cx="178487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feature maps are created,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of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= (3,3). Lose a row and col on each side.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406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 rotWithShape="1">
          <a:blip r:embed="rId5">
            <a:alphaModFix/>
          </a:blip>
          <a:srcRect b="6355" l="36162" r="415" t="3129"/>
          <a:stretch/>
        </p:blipFill>
        <p:spPr>
          <a:xfrm>
            <a:off x="2686240" y="1681017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/>
          <p:cNvPicPr preferRelativeResize="0"/>
          <p:nvPr/>
        </p:nvPicPr>
        <p:blipFill rotWithShape="1">
          <a:blip r:embed="rId6">
            <a:alphaModFix/>
          </a:blip>
          <a:srcRect b="6355" l="36162" r="415" t="3129"/>
          <a:stretch/>
        </p:blipFill>
        <p:spPr>
          <a:xfrm>
            <a:off x="2686240" y="2890981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69964" y="655094"/>
            <a:ext cx="739298" cy="73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7114" y="1844638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7114" y="3023918"/>
            <a:ext cx="822148" cy="81806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3977385" y="4276436"/>
            <a:ext cx="1641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maps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 (just dimension reduction). Each of those maps gets pooled.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693503" y="3057236"/>
            <a:ext cx="14369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channel,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x 28 pixels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4257964" y="406399"/>
            <a:ext cx="1043709" cy="114530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5"/>
          <p:cNvCxnSpPr>
            <a:stCxn id="232" idx="3"/>
            <a:endCxn id="234" idx="1"/>
          </p:cNvCxnSpPr>
          <p:nvPr/>
        </p:nvCxnSpPr>
        <p:spPr>
          <a:xfrm flipH="1" rot="10800000">
            <a:off x="2242476" y="978931"/>
            <a:ext cx="443700" cy="111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25"/>
          <p:cNvCxnSpPr>
            <a:stCxn id="232" idx="3"/>
            <a:endCxn id="235" idx="1"/>
          </p:cNvCxnSpPr>
          <p:nvPr/>
        </p:nvCxnSpPr>
        <p:spPr>
          <a:xfrm>
            <a:off x="2242476" y="2089231"/>
            <a:ext cx="443700" cy="1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5"/>
          <p:cNvCxnSpPr>
            <a:stCxn id="232" idx="3"/>
            <a:endCxn id="236" idx="1"/>
          </p:cNvCxnSpPr>
          <p:nvPr/>
        </p:nvCxnSpPr>
        <p:spPr>
          <a:xfrm>
            <a:off x="2242476" y="2089231"/>
            <a:ext cx="443700" cy="137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6" name="Google Shape;24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05235" y="714730"/>
            <a:ext cx="770659" cy="774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25"/>
          <p:cNvCxnSpPr>
            <a:stCxn id="242" idx="3"/>
            <a:endCxn id="246" idx="1"/>
          </p:cNvCxnSpPr>
          <p:nvPr/>
        </p:nvCxnSpPr>
        <p:spPr>
          <a:xfrm>
            <a:off x="5301673" y="979053"/>
            <a:ext cx="803700" cy="12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25"/>
          <p:cNvCxnSpPr>
            <a:stCxn id="242" idx="3"/>
          </p:cNvCxnSpPr>
          <p:nvPr/>
        </p:nvCxnSpPr>
        <p:spPr>
          <a:xfrm>
            <a:off x="5301673" y="979053"/>
            <a:ext cx="639900" cy="106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" name="Google Shape;249;p25"/>
          <p:cNvCxnSpPr>
            <a:stCxn id="242" idx="3"/>
          </p:cNvCxnSpPr>
          <p:nvPr/>
        </p:nvCxnSpPr>
        <p:spPr>
          <a:xfrm>
            <a:off x="5301673" y="979053"/>
            <a:ext cx="634500" cy="204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25"/>
          <p:cNvSpPr txBox="1"/>
          <p:nvPr/>
        </p:nvSpPr>
        <p:spPr>
          <a:xfrm>
            <a:off x="5761027" y="4276436"/>
            <a:ext cx="179454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Each feature map from the pooling layer undergoes convolution again.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5"/>
          <p:cNvCxnSpPr>
            <a:stCxn id="234" idx="3"/>
            <a:endCxn id="242" idx="1"/>
          </p:cNvCxnSpPr>
          <p:nvPr/>
        </p:nvCxnSpPr>
        <p:spPr>
          <a:xfrm>
            <a:off x="3835348" y="979054"/>
            <a:ext cx="42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25"/>
          <p:cNvCxnSpPr>
            <a:stCxn id="235" idx="3"/>
            <a:endCxn id="238" idx="1"/>
          </p:cNvCxnSpPr>
          <p:nvPr/>
        </p:nvCxnSpPr>
        <p:spPr>
          <a:xfrm>
            <a:off x="3835348" y="2253672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3" name="Google Shape;253;p25"/>
          <p:cNvCxnSpPr>
            <a:stCxn id="236" idx="3"/>
            <a:endCxn id="239" idx="1"/>
          </p:cNvCxnSpPr>
          <p:nvPr/>
        </p:nvCxnSpPr>
        <p:spPr>
          <a:xfrm flipH="1" rot="10800000">
            <a:off x="3835348" y="3433036"/>
            <a:ext cx="551700" cy="3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25"/>
          <p:cNvSpPr txBox="1"/>
          <p:nvPr/>
        </p:nvSpPr>
        <p:spPr>
          <a:xfrm>
            <a:off x="7472219" y="4272677"/>
            <a:ext cx="174615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same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maps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 (just dimension reduction). Each of those maps gets pooled.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05234" y="1753744"/>
            <a:ext cx="770659" cy="77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09274" y="2792758"/>
            <a:ext cx="770659" cy="77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54935" y="919921"/>
            <a:ext cx="401277" cy="4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54934" y="1970146"/>
            <a:ext cx="401277" cy="4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54935" y="2978695"/>
            <a:ext cx="401277" cy="4026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25"/>
          <p:cNvCxnSpPr>
            <a:stCxn id="246" idx="3"/>
            <a:endCxn id="257" idx="1"/>
          </p:cNvCxnSpPr>
          <p:nvPr/>
        </p:nvCxnSpPr>
        <p:spPr>
          <a:xfrm>
            <a:off x="6875894" y="1101973"/>
            <a:ext cx="479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25"/>
          <p:cNvCxnSpPr>
            <a:stCxn id="255" idx="3"/>
            <a:endCxn id="258" idx="1"/>
          </p:cNvCxnSpPr>
          <p:nvPr/>
        </p:nvCxnSpPr>
        <p:spPr>
          <a:xfrm>
            <a:off x="6875893" y="2140987"/>
            <a:ext cx="479100" cy="3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" name="Google Shape;262;p25"/>
          <p:cNvCxnSpPr>
            <a:stCxn id="256" idx="3"/>
            <a:endCxn id="259" idx="1"/>
          </p:cNvCxnSpPr>
          <p:nvPr/>
        </p:nvCxnSpPr>
        <p:spPr>
          <a:xfrm>
            <a:off x="6879933" y="3180001"/>
            <a:ext cx="474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p25"/>
          <p:cNvSpPr txBox="1"/>
          <p:nvPr/>
        </p:nvSpPr>
        <p:spPr>
          <a:xfrm flipH="1">
            <a:off x="9037177" y="293326"/>
            <a:ext cx="2946863" cy="341632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– pooling is aggressive down-sampling… use the formula to see how size changes…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have a 2x2 window in maxPooling, you will HALVE the size of your feature map!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trainable parms for pooling… it’s naïve…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88927" y="748145"/>
            <a:ext cx="1770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(NONE,28,28,1)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2357113" y="28052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(NONE,24,24,3)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3986337" y="4579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(NONE,12,12,3)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5612960" y="359174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(NONE,10,10,3)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7298509" y="502849"/>
            <a:ext cx="14654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</a:t>
            </a: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5,5,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7315345" y="3684571"/>
            <a:ext cx="1765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feature maps…</a:t>
            </a:r>
            <a:endParaRPr i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2325470" y="6515489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PARM=78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4084096" y="6488668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5670153" y="6488668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PARM=84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7523381" y="6471790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25" y="1319212"/>
            <a:ext cx="8820150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81" y="1121227"/>
            <a:ext cx="1789895" cy="19360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2050473" y="4276436"/>
            <a:ext cx="178487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feature maps are created,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of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= (5,5). Lose two rows and two columns on each side.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406399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1681017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4">
            <a:alphaModFix/>
          </a:blip>
          <a:srcRect b="6355" l="36162" r="415" t="3129"/>
          <a:stretch/>
        </p:blipFill>
        <p:spPr>
          <a:xfrm>
            <a:off x="2686240" y="2890981"/>
            <a:ext cx="1149108" cy="11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9964" y="655094"/>
            <a:ext cx="739298" cy="73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7114" y="1844638"/>
            <a:ext cx="822148" cy="81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7114" y="3023918"/>
            <a:ext cx="822148" cy="81806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3977385" y="4276436"/>
            <a:ext cx="1641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maps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 (just dimension reduction). Each of those maps gets pooled.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693503" y="3057236"/>
            <a:ext cx="14369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image,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channel,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x 28 pixels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4257964" y="406399"/>
            <a:ext cx="1043709" cy="114530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27"/>
          <p:cNvCxnSpPr>
            <a:stCxn id="283" idx="3"/>
            <a:endCxn id="285" idx="1"/>
          </p:cNvCxnSpPr>
          <p:nvPr/>
        </p:nvCxnSpPr>
        <p:spPr>
          <a:xfrm flipH="1" rot="10800000">
            <a:off x="2242476" y="978931"/>
            <a:ext cx="443700" cy="111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5" name="Google Shape;295;p27"/>
          <p:cNvCxnSpPr>
            <a:stCxn id="283" idx="3"/>
            <a:endCxn id="286" idx="1"/>
          </p:cNvCxnSpPr>
          <p:nvPr/>
        </p:nvCxnSpPr>
        <p:spPr>
          <a:xfrm>
            <a:off x="2242476" y="2089231"/>
            <a:ext cx="443700" cy="1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6" name="Google Shape;296;p27"/>
          <p:cNvCxnSpPr>
            <a:stCxn id="283" idx="3"/>
            <a:endCxn id="287" idx="1"/>
          </p:cNvCxnSpPr>
          <p:nvPr/>
        </p:nvCxnSpPr>
        <p:spPr>
          <a:xfrm>
            <a:off x="2242476" y="2089231"/>
            <a:ext cx="443700" cy="137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7" name="Google Shape;29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5235" y="714730"/>
            <a:ext cx="770659" cy="774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27"/>
          <p:cNvCxnSpPr>
            <a:stCxn id="293" idx="3"/>
            <a:endCxn id="297" idx="1"/>
          </p:cNvCxnSpPr>
          <p:nvPr/>
        </p:nvCxnSpPr>
        <p:spPr>
          <a:xfrm>
            <a:off x="5301673" y="979053"/>
            <a:ext cx="803700" cy="12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27"/>
          <p:cNvCxnSpPr>
            <a:stCxn id="293" idx="3"/>
          </p:cNvCxnSpPr>
          <p:nvPr/>
        </p:nvCxnSpPr>
        <p:spPr>
          <a:xfrm>
            <a:off x="5301673" y="979053"/>
            <a:ext cx="639900" cy="106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27"/>
          <p:cNvCxnSpPr>
            <a:stCxn id="293" idx="3"/>
          </p:cNvCxnSpPr>
          <p:nvPr/>
        </p:nvCxnSpPr>
        <p:spPr>
          <a:xfrm>
            <a:off x="5301673" y="979053"/>
            <a:ext cx="634500" cy="204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27"/>
          <p:cNvSpPr txBox="1"/>
          <p:nvPr/>
        </p:nvSpPr>
        <p:spPr>
          <a:xfrm>
            <a:off x="5761027" y="3860801"/>
            <a:ext cx="1794547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Convolution2D.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Each feature map from the pooling layer undergoes convolution again. Lose a row and column on each side.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27"/>
          <p:cNvCxnSpPr>
            <a:stCxn id="285" idx="3"/>
            <a:endCxn id="293" idx="1"/>
          </p:cNvCxnSpPr>
          <p:nvPr/>
        </p:nvCxnSpPr>
        <p:spPr>
          <a:xfrm>
            <a:off x="3835348" y="979054"/>
            <a:ext cx="42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27"/>
          <p:cNvCxnSpPr>
            <a:stCxn id="286" idx="3"/>
            <a:endCxn id="289" idx="1"/>
          </p:cNvCxnSpPr>
          <p:nvPr/>
        </p:nvCxnSpPr>
        <p:spPr>
          <a:xfrm>
            <a:off x="3835348" y="2253672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27"/>
          <p:cNvCxnSpPr>
            <a:stCxn id="287" idx="3"/>
            <a:endCxn id="290" idx="1"/>
          </p:cNvCxnSpPr>
          <p:nvPr/>
        </p:nvCxnSpPr>
        <p:spPr>
          <a:xfrm flipH="1" rot="10800000">
            <a:off x="3835348" y="3433036"/>
            <a:ext cx="551700" cy="3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27"/>
          <p:cNvSpPr txBox="1"/>
          <p:nvPr/>
        </p:nvSpPr>
        <p:spPr>
          <a:xfrm>
            <a:off x="7518128" y="4238602"/>
            <a:ext cx="174615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MaxPooling2D,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 maps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 (just dimension reduction). Each of those maps gets pooled.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5234" y="1753744"/>
            <a:ext cx="770659" cy="77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9274" y="2792758"/>
            <a:ext cx="770659" cy="77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7106" y="900667"/>
            <a:ext cx="401277" cy="4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8561" y="1970146"/>
            <a:ext cx="401277" cy="40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97705" y="3008137"/>
            <a:ext cx="401277" cy="4026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27"/>
          <p:cNvCxnSpPr>
            <a:stCxn id="297" idx="3"/>
            <a:endCxn id="308" idx="1"/>
          </p:cNvCxnSpPr>
          <p:nvPr/>
        </p:nvCxnSpPr>
        <p:spPr>
          <a:xfrm>
            <a:off x="6875894" y="1101973"/>
            <a:ext cx="1041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2" name="Google Shape;312;p27"/>
          <p:cNvCxnSpPr>
            <a:stCxn id="306" idx="3"/>
            <a:endCxn id="309" idx="1"/>
          </p:cNvCxnSpPr>
          <p:nvPr/>
        </p:nvCxnSpPr>
        <p:spPr>
          <a:xfrm>
            <a:off x="6875893" y="2140987"/>
            <a:ext cx="1062600" cy="3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3" name="Google Shape;313;p27"/>
          <p:cNvCxnSpPr>
            <a:stCxn id="307" idx="3"/>
            <a:endCxn id="310" idx="1"/>
          </p:cNvCxnSpPr>
          <p:nvPr/>
        </p:nvCxnSpPr>
        <p:spPr>
          <a:xfrm>
            <a:off x="6879933" y="3180001"/>
            <a:ext cx="1117800" cy="2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4" name="Google Shape;314;p27"/>
          <p:cNvPicPr preferRelativeResize="0"/>
          <p:nvPr/>
        </p:nvPicPr>
        <p:blipFill rotWithShape="1">
          <a:blip r:embed="rId8">
            <a:alphaModFix/>
          </a:blip>
          <a:srcRect b="0" l="83562" r="10783" t="0"/>
          <a:stretch/>
        </p:blipFill>
        <p:spPr>
          <a:xfrm>
            <a:off x="9074623" y="143882"/>
            <a:ext cx="498763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9183530" y="4446580"/>
            <a:ext cx="85120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now it’s like the input to a DNN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27"/>
          <p:cNvCxnSpPr>
            <a:stCxn id="308" idx="3"/>
          </p:cNvCxnSpPr>
          <p:nvPr/>
        </p:nvCxnSpPr>
        <p:spPr>
          <a:xfrm>
            <a:off x="8318383" y="1101973"/>
            <a:ext cx="7563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" name="Google Shape;317;p27"/>
          <p:cNvCxnSpPr>
            <a:stCxn id="309" idx="3"/>
            <a:endCxn id="314" idx="1"/>
          </p:cNvCxnSpPr>
          <p:nvPr/>
        </p:nvCxnSpPr>
        <p:spPr>
          <a:xfrm>
            <a:off x="8339838" y="2171452"/>
            <a:ext cx="734700" cy="8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" name="Google Shape;318;p27"/>
          <p:cNvCxnSpPr>
            <a:stCxn id="310" idx="3"/>
          </p:cNvCxnSpPr>
          <p:nvPr/>
        </p:nvCxnSpPr>
        <p:spPr>
          <a:xfrm>
            <a:off x="8398982" y="3209443"/>
            <a:ext cx="675600" cy="10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https://sds-platform-private.s3-us-east-2.amazonaws.com/uploads/74_blog_image_1.png" id="319" name="Google Shape;319;p27"/>
          <p:cNvPicPr preferRelativeResize="0"/>
          <p:nvPr/>
        </p:nvPicPr>
        <p:blipFill rotWithShape="1">
          <a:blip r:embed="rId9">
            <a:alphaModFix/>
          </a:blip>
          <a:srcRect b="0" l="32527" r="0" t="0"/>
          <a:stretch/>
        </p:blipFill>
        <p:spPr>
          <a:xfrm>
            <a:off x="9626388" y="1729759"/>
            <a:ext cx="1611192" cy="108642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9618373" y="3023916"/>
            <a:ext cx="809482" cy="646331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Dense layer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288927" y="748145"/>
            <a:ext cx="1770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(NONE,28,28,1)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2357113" y="28052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(NONE,24,24,3)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3986337" y="4579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(NONE,12,12,3)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5612960" y="359174"/>
            <a:ext cx="1646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(NONE,10,10,3)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7298509" y="502849"/>
            <a:ext cx="14654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</a:t>
            </a: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5,5,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8534400" y="80618"/>
            <a:ext cx="1845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5x5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=(NONE,75)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7315345" y="3684571"/>
            <a:ext cx="1765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feature maps…</a:t>
            </a:r>
            <a:endParaRPr i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9646471" y="1203841"/>
            <a:ext cx="12841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 256)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10714182" y="1390720"/>
            <a:ext cx="1063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(NONE,2)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2325470" y="6515489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PARM=78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4084096" y="6488668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5670153" y="6488668"/>
            <a:ext cx="1113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PARM=84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7523381" y="6471790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8825919" y="6449367"/>
            <a:ext cx="996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PARM=0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10767040" y="2343565"/>
            <a:ext cx="1047084" cy="369332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9603092" y="3599272"/>
            <a:ext cx="2073003" cy="92333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params = (75+1)*256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19,456 params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10737647" y="4846556"/>
            <a:ext cx="1424795" cy="1754326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formulas for dense layers vs. Conv2D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10379777" y="2691144"/>
            <a:ext cx="1955985" cy="92333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params = (256+1)*2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514 params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Comparison of different kernels</a:t>
            </a:r>
            <a:endParaRPr/>
          </a:p>
        </p:txBody>
      </p:sp>
      <p:sp>
        <p:nvSpPr>
          <p:cNvPr id="344" name="Google Shape;344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Our kernels will be learned from the data for our specific process, but here are some cool looking ones from Photoshop.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http://setosa.io/ev/image-kernels/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687" y="352425"/>
            <a:ext cx="8810625" cy="6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338137"/>
            <a:ext cx="8858250" cy="61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4025" y="438150"/>
            <a:ext cx="8743950" cy="59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" y="352425"/>
            <a:ext cx="8896350" cy="6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7" y="290512"/>
            <a:ext cx="8848725" cy="62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328612"/>
            <a:ext cx="8858250" cy="62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442912"/>
            <a:ext cx="8877300" cy="59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012" y="366712"/>
            <a:ext cx="8943975" cy="61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457200"/>
            <a:ext cx="88392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APPENDIX: Some good links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Excellent Intro Blog</a:t>
            </a:r>
            <a:endParaRPr/>
          </a:p>
        </p:txBody>
      </p:sp>
      <p:sp>
        <p:nvSpPr>
          <p:cNvPr id="400" name="Google Shape;400;p39"/>
          <p:cNvSpPr txBox="1"/>
          <p:nvPr>
            <p:ph idx="1" type="body"/>
          </p:nvPr>
        </p:nvSpPr>
        <p:spPr>
          <a:xfrm>
            <a:off x="685800" y="2194560"/>
            <a:ext cx="3902242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“Visualizing parts of Convolutional Neural Networks using Keras and Cats”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https://hackernoon.com/visualizing-parts-of-convolutional-neural-networks-using-keras-and-cats-5cc01b214e59</a:t>
            </a:r>
            <a:r>
              <a:rPr lang="en-US"/>
              <a:t> </a:t>
            </a:r>
            <a:endParaRPr/>
          </a:p>
        </p:txBody>
      </p:sp>
      <p:pic>
        <p:nvPicPr>
          <p:cNvPr descr="https://cdn-images-1.medium.com/max/1600/1*OfbX5Lahe8Y6NiTF_98PZg.png" id="401" name="Google Shape;4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206" y="1911806"/>
            <a:ext cx="4772485" cy="4589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Convolution example</a:t>
            </a:r>
            <a:endParaRPr/>
          </a:p>
        </p:txBody>
      </p:sp>
      <p:sp>
        <p:nvSpPr>
          <p:cNvPr id="407" name="Google Shape;407;p40"/>
          <p:cNvSpPr txBox="1"/>
          <p:nvPr>
            <p:ph idx="1" type="body"/>
          </p:nvPr>
        </p:nvSpPr>
        <p:spPr>
          <a:xfrm>
            <a:off x="288758" y="1668380"/>
            <a:ext cx="11217442" cy="4550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Play with different kernels! Kind of like Photoshop… this is what our convolutional layers are doing.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http://setosa.io/ev/image-kernels/</a:t>
            </a:r>
            <a:r>
              <a:rPr lang="en-US"/>
              <a:t> </a:t>
            </a:r>
            <a:endParaRPr/>
          </a:p>
        </p:txBody>
      </p:sp>
      <p:pic>
        <p:nvPicPr>
          <p:cNvPr id="408" name="Google Shape;40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4631" y="2817029"/>
            <a:ext cx="7736305" cy="3877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>
            <p:ph type="title"/>
          </p:nvPr>
        </p:nvSpPr>
        <p:spPr>
          <a:xfrm>
            <a:off x="545431" y="395405"/>
            <a:ext cx="10976811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Another Good Convolution Example</a:t>
            </a:r>
            <a:endParaRPr/>
          </a:p>
        </p:txBody>
      </p:sp>
      <p:sp>
        <p:nvSpPr>
          <p:cNvPr id="414" name="Google Shape;414;p41"/>
          <p:cNvSpPr txBox="1"/>
          <p:nvPr>
            <p:ph idx="1" type="body"/>
          </p:nvPr>
        </p:nvSpPr>
        <p:spPr>
          <a:xfrm>
            <a:off x="685800" y="2194560"/>
            <a:ext cx="38862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 u="sng">
                <a:solidFill>
                  <a:schemeClr val="hlink"/>
                </a:solidFill>
                <a:hlinkClick r:id="rId3"/>
              </a:rPr>
              <a:t>https://ricardodeazambuja.com/deep_learning/2017/03/05/easy-peasy_conv_deep_learning_two/</a:t>
            </a:r>
            <a:endParaRPr sz="259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Whole blog post is good! Check out the video for a real-time example.</a:t>
            </a:r>
            <a:endParaRPr/>
          </a:p>
        </p:txBody>
      </p:sp>
      <p:pic>
        <p:nvPicPr>
          <p:cNvPr descr="What happens when we do a 2D convolution" id="415" name="Google Shape;41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898" y="1410887"/>
            <a:ext cx="4372826" cy="263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3053" y="4177048"/>
            <a:ext cx="4159918" cy="268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more</a:t>
            </a:r>
            <a:endParaRPr/>
          </a:p>
        </p:txBody>
      </p:sp>
      <p:sp>
        <p:nvSpPr>
          <p:cNvPr id="422" name="Google Shape;422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http://cs231n.github.io/convolutional-networks/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Stackoverflow example</a:t>
            </a:r>
            <a:endParaRPr/>
          </a:p>
        </p:txBody>
      </p:sp>
      <p:sp>
        <p:nvSpPr>
          <p:cNvPr id="428" name="Google Shape;428;p43"/>
          <p:cNvSpPr txBox="1"/>
          <p:nvPr>
            <p:ph idx="1" type="body"/>
          </p:nvPr>
        </p:nvSpPr>
        <p:spPr>
          <a:xfrm>
            <a:off x="685800" y="2194560"/>
            <a:ext cx="5445034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https://stackoverflow.com/questions/42786717/how-to-calculate-the-number-of-parameters-for-convolutional-neural-network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ization of a convolutional layer" id="429" name="Google Shape;42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9254" y="2771504"/>
            <a:ext cx="3810000" cy="335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