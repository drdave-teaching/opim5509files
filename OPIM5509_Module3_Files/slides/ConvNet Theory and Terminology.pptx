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 2-3 of M3.1. PowerPoint time - rare for this class, but ConvNet concepts deserve pictures.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Steve Nouri GIF. Input dog -&gt; pasta maker -&gt; feature maps. Two kernels -&gt; two maps,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Grayscale 0-255, single channel. RGB = 3 channels. This is why input_shape has that last dimension.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kernel demo. In OUR ConvNets the kernel values are LEARNED, not fixed like Photoshop.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emboss kernel demo. In OUR ConvNets the kernel values are LEARNED, not fixed like Photoshop.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sharpen kernel demo. In OUR ConvNets the kernel values are LEARNED, not fixed like Photoshop.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 = image, yellow = kernel, element-wise multiply + sum. 32x32 with 3x3 -&gt; 30x30.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4x4 -&gt; 2x2 with a 2x2 kernel. Max or average - most people use max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network builds its own features. Early layers = boring edges; deep layers = object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stages. Millions of images, 1000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Demystify: a ConvNet is feature-making front end + the dense network they already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Teaser for the implementation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Sets up the L in the parameter formula - and why channels confuse everyone in layer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layer of convolution with different kernel sizes. Small kernel = fine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63x79x1 examples from the blog.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 here. The brick picture is the whole game for layer-2 param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Pooling: zero. Dense: same formula as Module 2. No surprises.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to the math deck + notebook where we do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figure left to right: one input image -&gt; early convs -&gt; later convs -&gt;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Teaser section - transfer learning comes in M3.3.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big idea of transfer learning in one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M3.3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General -&gt; specific as you go deeper. This is why transfer learning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theory videos here; the math walkthrough continues in the next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gif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gif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gif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7708392" y="1752599"/>
            <a:ext cx="1388059" cy="419101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08392" y="2171700"/>
            <a:ext cx="1388059" cy="419099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08392" y="2171700"/>
            <a:ext cx="1388059" cy="12573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08392" y="2171700"/>
            <a:ext cx="1388059" cy="2095499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08392" y="2171700"/>
            <a:ext cx="1388059" cy="29337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708392" y="1752599"/>
            <a:ext cx="1388059" cy="16764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708392" y="2590799"/>
            <a:ext cx="1388059" cy="838201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08392" y="3429000"/>
            <a:ext cx="1388059" cy="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08392" y="3429000"/>
            <a:ext cx="1388059" cy="838199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08392" y="3429000"/>
            <a:ext cx="1388059" cy="16764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708392" y="1752599"/>
            <a:ext cx="1388059" cy="29337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708392" y="2590799"/>
            <a:ext cx="1388059" cy="20955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708392" y="3429000"/>
            <a:ext cx="1388059" cy="12573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708392" y="4267199"/>
            <a:ext cx="1388059" cy="4191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08392" y="4686300"/>
            <a:ext cx="1388059" cy="419100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96451" y="1752599"/>
            <a:ext cx="1388059" cy="0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96451" y="1752599"/>
            <a:ext cx="1388059" cy="8382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96451" y="1752599"/>
            <a:ext cx="1388059" cy="1676401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96451" y="1752599"/>
            <a:ext cx="1388059" cy="2514600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96451" y="1752599"/>
            <a:ext cx="1388059" cy="33528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096451" y="1752599"/>
            <a:ext cx="1388059" cy="8382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96451" y="2590799"/>
            <a:ext cx="1388059" cy="0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96451" y="2590799"/>
            <a:ext cx="1388059" cy="8382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96451" y="2590799"/>
            <a:ext cx="1388059" cy="1676400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96451" y="2590799"/>
            <a:ext cx="1388059" cy="25146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096451" y="1752599"/>
            <a:ext cx="1388059" cy="16764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096451" y="2590799"/>
            <a:ext cx="1388059" cy="8382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96451" y="3429000"/>
            <a:ext cx="1388059" cy="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096451" y="3429000"/>
            <a:ext cx="1388059" cy="838199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096451" y="3429000"/>
            <a:ext cx="1388059" cy="16764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096451" y="1752599"/>
            <a:ext cx="1388059" cy="2514600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096451" y="2590799"/>
            <a:ext cx="1388059" cy="16764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096451" y="3429000"/>
            <a:ext cx="1388059" cy="838199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096451" y="4267199"/>
            <a:ext cx="1388059" cy="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096451" y="4267199"/>
            <a:ext cx="1388059" cy="838201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096451" y="1752599"/>
            <a:ext cx="1388059" cy="33528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096451" y="2590799"/>
            <a:ext cx="1388059" cy="25146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096451" y="3429000"/>
            <a:ext cx="1388059" cy="167640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096451" y="4267199"/>
            <a:ext cx="1388059" cy="838201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096451" y="5105400"/>
            <a:ext cx="1388059" cy="0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484510" y="1752599"/>
            <a:ext cx="1135685" cy="1676401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84510" y="2590799"/>
            <a:ext cx="1135685" cy="838201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484510" y="3429000"/>
            <a:ext cx="1135685" cy="0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484510" y="3429000"/>
            <a:ext cx="1135685" cy="838199"/>
          </a:xfrm>
          <a:prstGeom prst="line">
            <a:avLst/>
          </a:prstGeom>
          <a:ln w="11430">
            <a:solidFill>
              <a:srgbClr val="3A3D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484510" y="3429000"/>
            <a:ext cx="1135685" cy="1676400"/>
          </a:xfrm>
          <a:prstGeom prst="line">
            <a:avLst/>
          </a:prstGeom>
          <a:ln w="17780">
            <a:solidFill>
              <a:srgbClr val="8C69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7589519" y="2052828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589519" y="3310128"/>
            <a:ext cx="237744" cy="237744"/>
          </a:xfrm>
          <a:prstGeom prst="ellipse">
            <a:avLst/>
          </a:prstGeom>
          <a:solidFill>
            <a:srgbClr val="343740"/>
          </a:solidFill>
          <a:ln w="15240">
            <a:solidFill>
              <a:srgbClr val="5A5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589519" y="4567428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77579" y="1633728"/>
            <a:ext cx="237744" cy="237744"/>
          </a:xfrm>
          <a:prstGeom prst="ellipse">
            <a:avLst/>
          </a:prstGeom>
          <a:solidFill>
            <a:srgbClr val="343740"/>
          </a:solidFill>
          <a:ln w="15240">
            <a:solidFill>
              <a:srgbClr val="5A5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977579" y="2471928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977579" y="3310128"/>
            <a:ext cx="237744" cy="237744"/>
          </a:xfrm>
          <a:prstGeom prst="ellipse">
            <a:avLst/>
          </a:prstGeom>
          <a:solidFill>
            <a:srgbClr val="343740"/>
          </a:solidFill>
          <a:ln w="15240">
            <a:solidFill>
              <a:srgbClr val="5A5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977579" y="4148327"/>
            <a:ext cx="237744" cy="237744"/>
          </a:xfrm>
          <a:prstGeom prst="ellipse">
            <a:avLst/>
          </a:prstGeom>
          <a:solidFill>
            <a:srgbClr val="343740"/>
          </a:solidFill>
          <a:ln w="15240">
            <a:solidFill>
              <a:srgbClr val="5A5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977579" y="4986528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365638" y="1633728"/>
            <a:ext cx="237744" cy="237744"/>
          </a:xfrm>
          <a:prstGeom prst="ellipse">
            <a:avLst/>
          </a:prstGeom>
          <a:solidFill>
            <a:srgbClr val="343740"/>
          </a:solidFill>
          <a:ln w="15240">
            <a:solidFill>
              <a:srgbClr val="5A5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365638" y="2471928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365638" y="3310128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365638" y="4148327"/>
            <a:ext cx="237744" cy="237744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365638" y="4986528"/>
            <a:ext cx="237744" cy="237744"/>
          </a:xfrm>
          <a:prstGeom prst="ellipse">
            <a:avLst/>
          </a:prstGeom>
          <a:solidFill>
            <a:srgbClr val="343740"/>
          </a:solidFill>
          <a:ln w="15240">
            <a:solidFill>
              <a:srgbClr val="5A5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419027" y="3227832"/>
            <a:ext cx="402336" cy="40233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7240" y="1828800"/>
            <a:ext cx="1280160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20574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B705"/>
                </a:solidFill>
                <a:latin typeface="Arial"/>
              </a:rPr>
              <a:t>OPIM 5509  ·  MODULE 3.1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2514600"/>
            <a:ext cx="6949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5F5F7"/>
                </a:solidFill>
                <a:latin typeface="Arial"/>
              </a:rPr>
              <a:t>ConvNet Theory</a:t>
            </a:r>
          </a:p>
          <a:p>
            <a:pPr algn="l"/>
            <a:r>
              <a:rPr sz="5400" b="1">
                <a:solidFill>
                  <a:srgbClr val="F5F5F7"/>
                </a:solidFill>
                <a:latin typeface="Arial"/>
              </a:rPr>
              <a:t>and Terminology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" y="466344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A8ABB4"/>
                </a:solidFill>
                <a:latin typeface="Arial"/>
              </a:rPr>
              <a:t>Dr. Dave Wanik  ·  Introduction to Deep Learning  ·  University of Connecticut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A ConvNet is a feature-making machine</a:t>
            </a:r>
          </a:p>
        </p:txBody>
      </p:sp>
      <p:pic>
        <p:nvPicPr>
          <p:cNvPr id="6" name="Picture 5" descr="s02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37360"/>
            <a:ext cx="4297680" cy="42976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77240" y="2231136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148840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C1E24"/>
                </a:solidFill>
                <a:latin typeface="Arial"/>
              </a:rPr>
              <a:t>An image goes in... and gets convolved into FEATURE MAPS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798064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C1E24"/>
                </a:solidFill>
                <a:latin typeface="Arial"/>
              </a:rPr>
              <a:t>Each kernel highlights a different part of the image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64991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3282696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C1E24"/>
                </a:solidFill>
                <a:latin typeface="Arial"/>
              </a:rPr>
              <a:t>Useful regions "light up" - ears, whiskers, textures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931920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849624"/>
            <a:ext cx="5394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C1E24"/>
                </a:solidFill>
                <a:latin typeface="Arial"/>
              </a:rPr>
              <a:t>The model learns WHICH kernels help it predict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6344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919472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AD878"/>
                </a:solidFill>
                <a:latin typeface="Arial"/>
              </a:rPr>
              <a:t>"Picture the conv layer as a pasta maker -</a:t>
            </a:r>
          </a:p>
          <a:p>
            <a:pPr algn="l">
              <a:lnSpc>
                <a:spcPct val="105000"/>
              </a:lnSpc>
            </a:pPr>
            <a:r>
              <a:rPr sz="1900" b="1">
                <a:solidFill>
                  <a:srgbClr val="FAD878"/>
                </a:solidFill>
                <a:latin typeface="Arial"/>
              </a:rPr>
              <a:t>the dog comes out as feature maps."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5778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8ABB4"/>
                </a:solidFill>
                <a:latin typeface="Arial"/>
              </a:rPr>
              <a:t>- the hook from the 2022 lecture, still undefeated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Images are data!</a:t>
            </a:r>
          </a:p>
        </p:txBody>
      </p:sp>
      <p:pic>
        <p:nvPicPr>
          <p:cNvPr id="6" name="Picture 5" descr="s03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559" y="1828800"/>
            <a:ext cx="6502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1E24"/>
                </a:solidFill>
                <a:latin typeface="Arial"/>
              </a:rPr>
              <a:t>B&amp;W image = one 2D array of 0-255.   </a:t>
            </a:r>
            <a:r>
              <a:rPr sz="1600" b="0">
                <a:solidFill>
                  <a:srgbClr val="1C1E24"/>
                </a:solidFill>
                <a:latin typeface="Arial"/>
              </a:rPr>
              <a:t>Color image = THREE stacked arrays (R, G, B channels). Pixels are just numbers - so it's all just math.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Kernels in action: outline</a:t>
            </a:r>
          </a:p>
        </p:txBody>
      </p:sp>
      <p:pic>
        <p:nvPicPr>
          <p:cNvPr id="6" name="Picture 5" descr="s04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280" y="1874519"/>
            <a:ext cx="6664959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787C86"/>
                </a:solidFill>
                <a:latin typeface="Arial"/>
              </a:rPr>
              <a:t>Constant kernel values - this one finds edges by amplifying differences between neighbors.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Kernels in action: emboss</a:t>
            </a:r>
          </a:p>
        </p:txBody>
      </p:sp>
      <p:pic>
        <p:nvPicPr>
          <p:cNvPr id="6" name="Picture 5" descr="s05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280" y="1874519"/>
            <a:ext cx="6664959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787C86"/>
                </a:solidFill>
                <a:latin typeface="Arial"/>
              </a:rPr>
              <a:t>Gives the illusion of depth - emphasizes pixel differences in one direction.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Kernels in action: sharpen</a:t>
            </a:r>
          </a:p>
        </p:txBody>
      </p:sp>
      <p:pic>
        <p:nvPicPr>
          <p:cNvPr id="6" name="Picture 5" descr="s06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280" y="1874519"/>
            <a:ext cx="6664959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787C86"/>
                </a:solidFill>
                <a:latin typeface="Arial"/>
              </a:rPr>
              <a:t>Amplifies the center pixel vs. its neighbors - the image "pops". Play live: setosa.io/ev/image-kernels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Convolution: light downsampling</a:t>
            </a:r>
          </a:p>
        </p:txBody>
      </p:sp>
      <p:pic>
        <p:nvPicPr>
          <p:cNvPr id="6" name="Picture 5" descr="s07_img1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24" y="1828800"/>
            <a:ext cx="5385911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66560" y="1828800"/>
            <a:ext cx="4709160" cy="228600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2029968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THE RULES</a:t>
            </a:r>
          </a:p>
        </p:txBody>
      </p:sp>
      <p:sp>
        <p:nvSpPr>
          <p:cNvPr id="9" name="Oval 8"/>
          <p:cNvSpPr/>
          <p:nvPr/>
        </p:nvSpPr>
        <p:spPr>
          <a:xfrm>
            <a:off x="7086600" y="2551176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42631" y="2468880"/>
            <a:ext cx="3931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E24"/>
                </a:solidFill>
                <a:latin typeface="Arial"/>
              </a:rPr>
              <a:t>Kernel slides with a stride of 1</a:t>
            </a:r>
          </a:p>
        </p:txBody>
      </p:sp>
      <p:sp>
        <p:nvSpPr>
          <p:cNvPr id="11" name="Oval 10"/>
          <p:cNvSpPr/>
          <p:nvPr/>
        </p:nvSpPr>
        <p:spPr>
          <a:xfrm>
            <a:off x="7086600" y="2953512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42631" y="2871216"/>
            <a:ext cx="3931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E24"/>
                </a:solidFill>
                <a:latin typeface="Arial"/>
              </a:rPr>
              <a:t>Lots of OVERLAP between steps</a:t>
            </a:r>
          </a:p>
        </p:txBody>
      </p:sp>
      <p:sp>
        <p:nvSpPr>
          <p:cNvPr id="13" name="Oval 12"/>
          <p:cNvSpPr/>
          <p:nvPr/>
        </p:nvSpPr>
        <p:spPr>
          <a:xfrm>
            <a:off x="7086600" y="3355848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1" y="3273552"/>
            <a:ext cx="3931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E24"/>
                </a:solidFill>
                <a:latin typeface="Arial"/>
              </a:rPr>
              <a:t>Output = feature map, slightly smaller</a:t>
            </a:r>
          </a:p>
        </p:txBody>
      </p:sp>
      <p:sp>
        <p:nvSpPr>
          <p:cNvPr id="15" name="Oval 14"/>
          <p:cNvSpPr/>
          <p:nvPr/>
        </p:nvSpPr>
        <p:spPr>
          <a:xfrm>
            <a:off x="7086600" y="3758184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2631" y="3675888"/>
            <a:ext cx="3931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E24"/>
                </a:solidFill>
                <a:latin typeface="Arial"/>
              </a:rPr>
              <a:t>New size: L - (M - 1)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4343400"/>
            <a:ext cx="4709160" cy="1417320"/>
          </a:xfrm>
          <a:prstGeom prst="roundRect">
            <a:avLst>
              <a:gd name="adj" fmla="val 8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4599432"/>
            <a:ext cx="4069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AD878"/>
                </a:solidFill>
                <a:latin typeface="Arial"/>
              </a:rPr>
              <a:t>"Convolution is a light</a:t>
            </a:r>
          </a:p>
          <a:p>
            <a:pPr algn="l">
              <a:lnSpc>
                <a:spcPct val="105000"/>
              </a:lnSpc>
            </a:pPr>
            <a:r>
              <a:rPr sz="1900" b="1">
                <a:solidFill>
                  <a:srgbClr val="FAD878"/>
                </a:solidFill>
                <a:latin typeface="Arial"/>
              </a:rPr>
              <a:t>downsampling of information."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5257800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8ABB4"/>
                </a:solidFill>
                <a:latin typeface="Arial"/>
              </a:rPr>
              <a:t>- say it with 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Pooling: aggressive downsampling</a:t>
            </a:r>
          </a:p>
        </p:txBody>
      </p:sp>
      <p:pic>
        <p:nvPicPr>
          <p:cNvPr id="6" name="Picture 5" descr="s08_img1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93188"/>
            <a:ext cx="5669280" cy="36031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66560" y="1828800"/>
            <a:ext cx="4709160" cy="228600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2029968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THE RULES</a:t>
            </a:r>
          </a:p>
        </p:txBody>
      </p:sp>
      <p:sp>
        <p:nvSpPr>
          <p:cNvPr id="9" name="Oval 8"/>
          <p:cNvSpPr/>
          <p:nvPr/>
        </p:nvSpPr>
        <p:spPr>
          <a:xfrm>
            <a:off x="7086600" y="2551176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42631" y="2468880"/>
            <a:ext cx="3931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E24"/>
                </a:solidFill>
                <a:latin typeface="Arial"/>
              </a:rPr>
              <a:t>Stride = kernel size: NO overlap</a:t>
            </a:r>
          </a:p>
        </p:txBody>
      </p:sp>
      <p:sp>
        <p:nvSpPr>
          <p:cNvPr id="11" name="Oval 10"/>
          <p:cNvSpPr/>
          <p:nvPr/>
        </p:nvSpPr>
        <p:spPr>
          <a:xfrm>
            <a:off x="7086600" y="2953512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42631" y="2871216"/>
            <a:ext cx="3931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E24"/>
                </a:solidFill>
                <a:latin typeface="Arial"/>
              </a:rPr>
              <a:t>Just takes the max in each window</a:t>
            </a:r>
          </a:p>
        </p:txBody>
      </p:sp>
      <p:sp>
        <p:nvSpPr>
          <p:cNvPr id="13" name="Oval 12"/>
          <p:cNvSpPr/>
          <p:nvPr/>
        </p:nvSpPr>
        <p:spPr>
          <a:xfrm>
            <a:off x="7086600" y="3355848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1" y="3273552"/>
            <a:ext cx="3931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E24"/>
                </a:solidFill>
                <a:latin typeface="Arial"/>
              </a:rPr>
              <a:t>New size: L / M  (2x2 kernel halves it)</a:t>
            </a:r>
          </a:p>
        </p:txBody>
      </p:sp>
      <p:sp>
        <p:nvSpPr>
          <p:cNvPr id="15" name="Oval 14"/>
          <p:cNvSpPr/>
          <p:nvPr/>
        </p:nvSpPr>
        <p:spPr>
          <a:xfrm>
            <a:off x="7086600" y="3758184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2631" y="3675888"/>
            <a:ext cx="3931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E24"/>
                </a:solidFill>
                <a:latin typeface="Arial"/>
              </a:rPr>
              <a:t>ZERO trainable parameters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4343400"/>
            <a:ext cx="4709160" cy="1417320"/>
          </a:xfrm>
          <a:prstGeom prst="roundRect">
            <a:avLst>
              <a:gd name="adj" fmla="val 8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4599432"/>
            <a:ext cx="4069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AD878"/>
                </a:solidFill>
                <a:latin typeface="Arial"/>
              </a:rPr>
              <a:t>"It flips over like a domino -</a:t>
            </a:r>
          </a:p>
          <a:p>
            <a:pPr algn="l">
              <a:lnSpc>
                <a:spcPct val="105000"/>
              </a:lnSpc>
            </a:pPr>
            <a:r>
              <a:rPr sz="1900" b="1">
                <a:solidFill>
                  <a:srgbClr val="FAD878"/>
                </a:solidFill>
                <a:latin typeface="Arial"/>
              </a:rPr>
              <a:t>no overlap, nothing learned."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5257800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8ABB4"/>
                </a:solidFill>
                <a:latin typeface="Arial"/>
              </a:rPr>
              <a:t>- max pooling in one 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No more feature engineering!</a:t>
            </a:r>
          </a:p>
        </p:txBody>
      </p:sp>
      <p:pic>
        <p:nvPicPr>
          <p:cNvPr id="6" name="Picture 5" descr="s09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35" y="1828800"/>
            <a:ext cx="4868848" cy="40233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309360" y="1920240"/>
            <a:ext cx="292608" cy="29260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9652" y="195224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A2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87452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1E24"/>
                </a:solidFill>
                <a:latin typeface="Arial"/>
              </a:rPr>
              <a:t>INPUT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22199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7C86"/>
                </a:solidFill>
                <a:latin typeface="Arial"/>
              </a:rPr>
              <a:t>raw pixels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2852928"/>
            <a:ext cx="292608" cy="29260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9652" y="28849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A20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80720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1E24"/>
                </a:solidFill>
                <a:latin typeface="Arial"/>
              </a:rPr>
              <a:t>LOWER-LEVEL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154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7C86"/>
                </a:solidFill>
                <a:latin typeface="Arial"/>
              </a:rPr>
              <a:t>edges, curves, colors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3785616"/>
            <a:ext cx="292608" cy="29260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9652" y="38176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A20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1E24"/>
                </a:solidFill>
                <a:latin typeface="Arial"/>
              </a:rPr>
              <a:t>HIGHER-LEVEL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08736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7C86"/>
                </a:solidFill>
                <a:latin typeface="Arial"/>
              </a:rPr>
              <a:t>ears, eyes, textures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4718304"/>
            <a:ext cx="292608" cy="292608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9652" y="475030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A20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6725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1E24"/>
                </a:solidFill>
                <a:latin typeface="Arial"/>
              </a:rPr>
              <a:t>MODEL 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0200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7C86"/>
                </a:solidFill>
                <a:latin typeface="Arial"/>
              </a:rPr>
              <a:t>cat or dog?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71500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Bonus: SPATIAL INVARIANCE - the cat can be anywhere in the frame. No more perfectly centered MNIST digits.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AlexNet: a famous ConvNet</a:t>
            </a:r>
          </a:p>
        </p:txBody>
      </p:sp>
      <p:pic>
        <p:nvPicPr>
          <p:cNvPr id="6" name="Picture 5" descr="s10_im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080" y="2011680"/>
            <a:ext cx="9501359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787C86"/>
                </a:solidFill>
                <a:latin typeface="Arial"/>
              </a:rPr>
              <a:t>Won ImageNet 2012 and kicked off the deep learning era. Look closely - it is just conv, pool, conv, pool... then dense.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AlexNet = data prep + the NN you know</a:t>
            </a:r>
          </a:p>
        </p:txBody>
      </p:sp>
      <p:pic>
        <p:nvPicPr>
          <p:cNvPr id="6" name="Picture 5" descr="s10_im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705" y="2103120"/>
            <a:ext cx="9014109" cy="3383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05840" y="5577840"/>
            <a:ext cx="4937760" cy="566928"/>
          </a:xfrm>
          <a:prstGeom prst="roundRect">
            <a:avLst/>
          </a:prstGeom>
          <a:solidFill>
            <a:srgbClr val="FFFBEE"/>
          </a:solidFill>
          <a:ln w="2540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56875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E24"/>
                </a:solidFill>
                <a:latin typeface="Arial"/>
              </a:rPr>
              <a:t>conv/pool stack = the DATA PREP we just learned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5577840"/>
            <a:ext cx="4937760" cy="566928"/>
          </a:xfrm>
          <a:prstGeom prst="roundRect">
            <a:avLst/>
          </a:prstGeom>
          <a:solidFill>
            <a:srgbClr val="FFFBEE"/>
          </a:solidFill>
          <a:ln w="2540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56875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E24"/>
                </a:solidFill>
                <a:latin typeface="Arial"/>
              </a:rPr>
              <a:t>FLATTEN -&gt; dense layers = the NN from Module 2!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Coming attraction: Cats vs. Dogs</a:t>
            </a:r>
          </a:p>
        </p:txBody>
      </p:sp>
      <p:pic>
        <p:nvPicPr>
          <p:cNvPr id="6" name="Picture 5" descr="s12_img2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87190"/>
            <a:ext cx="6949440" cy="39065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82880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2029968"/>
            <a:ext cx="2834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MODULE 3.2</a:t>
            </a:r>
          </a:p>
        </p:txBody>
      </p:sp>
      <p:sp>
        <p:nvSpPr>
          <p:cNvPr id="9" name="Oval 8"/>
          <p:cNvSpPr/>
          <p:nvPr/>
        </p:nvSpPr>
        <p:spPr>
          <a:xfrm>
            <a:off x="8275320" y="2551176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1352" y="2468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C1E24"/>
                </a:solidFill>
                <a:latin typeface="Arial"/>
              </a:rPr>
              <a:t>The "hello world" of computer vision</a:t>
            </a:r>
          </a:p>
        </p:txBody>
      </p:sp>
      <p:sp>
        <p:nvSpPr>
          <p:cNvPr id="11" name="Oval 10"/>
          <p:cNvSpPr/>
          <p:nvPr/>
        </p:nvSpPr>
        <p:spPr>
          <a:xfrm>
            <a:off x="8275320" y="3008376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29260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C1E24"/>
                </a:solidFill>
                <a:latin typeface="Arial"/>
              </a:rPr>
              <a:t>Real, messy images</a:t>
            </a:r>
          </a:p>
        </p:txBody>
      </p:sp>
      <p:sp>
        <p:nvSpPr>
          <p:cNvPr id="13" name="Oval 12"/>
          <p:cNvSpPr/>
          <p:nvPr/>
        </p:nvSpPr>
        <p:spPr>
          <a:xfrm>
            <a:off x="8275320" y="3465576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1352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C1E24"/>
                </a:solidFill>
                <a:latin typeface="Arial"/>
              </a:rPr>
              <a:t>Data augmentation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8275320" y="3922776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38404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C1E24"/>
                </a:solidFill>
                <a:latin typeface="Arial"/>
              </a:rPr>
              <a:t>Image generators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A color image = 3 channels</a:t>
            </a:r>
          </a:p>
        </p:txBody>
      </p:sp>
      <p:pic>
        <p:nvPicPr>
          <p:cNvPr id="6" name="Picture 5" descr="s1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071" y="1828800"/>
            <a:ext cx="4278736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2377440"/>
            <a:ext cx="4846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1E24"/>
                </a:solidFill>
                <a:latin typeface="Arial"/>
              </a:rPr>
              <a:t>height 320 · width 400 · 3 channels</a:t>
            </a:r>
          </a:p>
          <a:p>
            <a:pPr algn="l"/>
            <a:r>
              <a:rPr sz="1700" b="0">
                <a:solidFill>
                  <a:srgbClr val="1C1E24"/>
                </a:solidFill>
                <a:latin typeface="Arial"/>
              </a:rPr>
              <a:t/>
            </a:r>
          </a:p>
          <a:p>
            <a:pPr algn="l"/>
            <a:r>
              <a:rPr sz="1700" b="0">
                <a:solidFill>
                  <a:srgbClr val="1C1E24"/>
                </a:solidFill>
                <a:latin typeface="Arial"/>
              </a:rPr>
              <a:t>The R, G and B arrays stack like pages in a book. A kernel on RGB input is really an M x N x 3 brick - one slice per channel, summed into ONE feature map.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Filter size changes what you see</a:t>
            </a:r>
          </a:p>
        </p:txBody>
      </p:sp>
      <p:pic>
        <p:nvPicPr>
          <p:cNvPr id="6" name="Picture 5" descr="s14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63879"/>
            <a:ext cx="3383280" cy="28045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25780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C1E24"/>
                </a:solidFill>
                <a:latin typeface="Arial"/>
              </a:rPr>
              <a:t>Original photo</a:t>
            </a:r>
          </a:p>
        </p:txBody>
      </p:sp>
      <p:pic>
        <p:nvPicPr>
          <p:cNvPr id="8" name="Picture 7" descr="s14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2202236"/>
            <a:ext cx="3383280" cy="27278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80559" y="525780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C1E24"/>
                </a:solidFill>
                <a:latin typeface="Arial"/>
              </a:rPr>
              <a:t>3 x 3 filter: more detail, bigger map</a:t>
            </a:r>
          </a:p>
        </p:txBody>
      </p:sp>
      <p:pic>
        <p:nvPicPr>
          <p:cNvPr id="10" name="Picture 9" descr="s14_im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2241345"/>
            <a:ext cx="3383280" cy="26496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3879" y="525780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C1E24"/>
                </a:solidFill>
                <a:latin typeface="Arial"/>
              </a:rPr>
              <a:t>15 x 15 filter: less detail, smaller 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Pooling shrinks the feature map</a:t>
            </a:r>
          </a:p>
        </p:txBody>
      </p:sp>
      <p:pic>
        <p:nvPicPr>
          <p:cNvPr id="6" name="Picture 5" descr="s15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724" y="2011680"/>
            <a:ext cx="4423671" cy="3566160"/>
          </a:xfrm>
          <a:prstGeom prst="rect">
            <a:avLst/>
          </a:prstGeom>
        </p:spPr>
      </p:pic>
      <p:pic>
        <p:nvPicPr>
          <p:cNvPr id="7" name="Picture 6" descr="s15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890" y="2011680"/>
            <a:ext cx="3232139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6692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C1E24"/>
                </a:solidFill>
                <a:latin typeface="Arial"/>
              </a:rPr>
              <a:t>Pooling layer (5 x 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56692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C1E24"/>
                </a:solidFill>
                <a:latin typeface="Arial"/>
              </a:rPr>
              <a:t>ReLU + pooling layer (5 x 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You are welcome to put the ReLU activation right inside the Conv2D layer - check the docs.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Counting parameters: Conv2D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10652760" cy="137160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1E24"/>
                </a:solidFill>
                <a:latin typeface="Arial"/>
              </a:rPr>
              <a:t>Conv2D trainable parms  =  ((M · N · L) + B) · 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7C86"/>
                </a:solidFill>
                <a:latin typeface="Arial"/>
              </a:rPr>
              <a:t>M, N = filter size   ·   L = channels coming INTO the layer   ·   B = 1 bias per filter   ·   F = feature maps created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39896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657600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C1E24"/>
                </a:solidFill>
                <a:latin typeface="Arial"/>
              </a:rPr>
              <a:t>Each filter is an M x N x L BRICK - one M x N slice of weights per input channel, summed into ONE output map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306824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422452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C1E24"/>
                </a:solidFill>
                <a:latin typeface="Arial"/>
              </a:rPr>
              <a:t>One bias per filter - the kernel and its bias slide together (just like one bias per output node in dense layers)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873752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4791456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C1E24"/>
                </a:solidFill>
                <a:latin typeface="Arial"/>
              </a:rPr>
              <a:t>Example: L = 32 maps in, F = 64 maps out, 3 x 3 filter   -&gt;   ((3 · 3 · 32) + 1) · 64  =  18,496 parameters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230368"/>
            <a:ext cx="10652760" cy="868680"/>
          </a:xfrm>
          <a:prstGeom prst="roundRect">
            <a:avLst>
              <a:gd name="adj" fmla="val 8000"/>
            </a:avLst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86400"/>
            <a:ext cx="10012680" cy="45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AD878"/>
                </a:solidFill>
                <a:latin typeface="Arial"/>
              </a:rPr>
              <a:t>The L is the one that bites: deeper layers inherit L from the PREVIOUS layer's 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596128"/>
            <a:ext cx="10012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8ABB4"/>
                </a:solidFill>
                <a:latin typeface="Arial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Counting parameters: everything else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6712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INPUT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3288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1E24"/>
                </a:solidFill>
                <a:latin typeface="Arial"/>
              </a:rPr>
              <a:t>0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7C86"/>
                </a:solidFill>
                <a:latin typeface="Arial"/>
              </a:rPr>
              <a:t>it just reads the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16712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POOLING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53288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1E24"/>
                </a:solidFill>
                <a:latin typeface="Arial"/>
              </a:rPr>
              <a:t>0 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3154680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7C86"/>
                </a:solidFill>
                <a:latin typeface="Arial"/>
              </a:rPr>
              <a:t>nothing is learned - it only shrinks the maps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77639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78807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DENSE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4456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1E24"/>
                </a:solidFill>
                <a:latin typeface="Arial"/>
              </a:rPr>
              <a:t>(n + 1) ·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66359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7C86"/>
                </a:solidFill>
                <a:latin typeface="Arial"/>
              </a:rPr>
              <a:t>n inputs, m outputs; the +1 is each output node's bias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977639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4178807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OUTPUT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54456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1E24"/>
                </a:solidFill>
                <a:latin typeface="Arial"/>
              </a:rPr>
              <a:t>(n + 1) ·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5166359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7C86"/>
                </a:solidFill>
                <a:latin typeface="Arial"/>
              </a:rPr>
              <a:t>it's just another dense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Check yourself against model.summary()</a:t>
            </a:r>
          </a:p>
        </p:txBody>
      </p:sp>
      <p:pic>
        <p:nvPicPr>
          <p:cNvPr id="6" name="Picture 5" descr="s18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89265"/>
            <a:ext cx="5760720" cy="907868"/>
          </a:xfrm>
          <a:prstGeom prst="rect">
            <a:avLst/>
          </a:prstGeom>
        </p:spPr>
      </p:pic>
      <p:pic>
        <p:nvPicPr>
          <p:cNvPr id="7" name="Picture 6" descr="s18_im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059" y="3474720"/>
            <a:ext cx="4183080" cy="2468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49440" y="2194560"/>
            <a:ext cx="4526280" cy="3108960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2794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79" y="2395728"/>
            <a:ext cx="3886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8C6908"/>
                </a:solidFill>
                <a:latin typeface="Arial"/>
              </a:rPr>
              <a:t>THE WORKFLOW</a:t>
            </a:r>
          </a:p>
        </p:txBody>
      </p:sp>
      <p:sp>
        <p:nvSpPr>
          <p:cNvPr id="10" name="Oval 9"/>
          <p:cNvSpPr/>
          <p:nvPr/>
        </p:nvSpPr>
        <p:spPr>
          <a:xfrm>
            <a:off x="7269480" y="2916936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28346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E24"/>
                </a:solidFill>
                <a:latin typeface="Arial"/>
              </a:rPr>
              <a:t>Read the code</a:t>
            </a:r>
          </a:p>
        </p:txBody>
      </p:sp>
      <p:sp>
        <p:nvSpPr>
          <p:cNvPr id="12" name="Oval 11"/>
          <p:cNvSpPr/>
          <p:nvPr/>
        </p:nvSpPr>
        <p:spPr>
          <a:xfrm>
            <a:off x="7269480" y="3374136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2" y="32918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E24"/>
                </a:solidFill>
                <a:latin typeface="Arial"/>
              </a:rPr>
              <a:t>Predict every output shape</a:t>
            </a:r>
          </a:p>
        </p:txBody>
      </p:sp>
      <p:sp>
        <p:nvSpPr>
          <p:cNvPr id="14" name="Oval 13"/>
          <p:cNvSpPr/>
          <p:nvPr/>
        </p:nvSpPr>
        <p:spPr>
          <a:xfrm>
            <a:off x="7269480" y="3831335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3749039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E24"/>
                </a:solidFill>
                <a:latin typeface="Arial"/>
              </a:rPr>
              <a:t>Predict every param count</a:t>
            </a:r>
          </a:p>
        </p:txBody>
      </p:sp>
      <p:sp>
        <p:nvSpPr>
          <p:cNvPr id="16" name="Oval 15"/>
          <p:cNvSpPr/>
          <p:nvPr/>
        </p:nvSpPr>
        <p:spPr>
          <a:xfrm>
            <a:off x="7269480" y="4288536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42062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E24"/>
                </a:solidFill>
                <a:latin typeface="Arial"/>
              </a:rPr>
              <a:t>Run it - and check yourself</a:t>
            </a:r>
          </a:p>
        </p:txBody>
      </p:sp>
      <p:sp>
        <p:nvSpPr>
          <p:cNvPr id="18" name="Oval 17"/>
          <p:cNvSpPr/>
          <p:nvPr/>
        </p:nvSpPr>
        <p:spPr>
          <a:xfrm>
            <a:off x="7269480" y="4745736"/>
            <a:ext cx="118872" cy="118872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46634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C1E24"/>
                </a:solidFill>
                <a:latin typeface="Arial"/>
              </a:rPr>
              <a:t>This is the exam question!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MODULE 3.1 · CONVNET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What do ConvNets learn?</a:t>
            </a:r>
          </a:p>
        </p:txBody>
      </p:sp>
      <p:pic>
        <p:nvPicPr>
          <p:cNvPr id="6" name="Picture 5" descr="s19_fi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140" y="1828800"/>
            <a:ext cx="2757238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787C86"/>
                </a:solidFill>
                <a:latin typeface="Arial"/>
              </a:rPr>
              <a:t>Early convolutions: edges and blobs.  Later convolutions: textures and object parts.  Then FLATTEN -&gt; dense classifier.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77440"/>
            <a:ext cx="1280160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2B705"/>
                </a:solidFill>
                <a:latin typeface="Arial"/>
              </a:rPr>
              <a:t>A PEEK BEHIND THE CURTAIN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5F5F7"/>
                </a:solidFill>
                <a:latin typeface="Arial"/>
              </a:rPr>
              <a:t>Advanced Topics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69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A8ABB4"/>
                </a:solidFill>
                <a:latin typeface="Arial"/>
              </a:rPr>
              <a:t>For later lectures - but let's stay motivated. This is where ConvNets get exciting.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ADVANCED TOPICS · TRANSFER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Keep the base, swap classifiers</a:t>
            </a:r>
          </a:p>
        </p:txBody>
      </p:sp>
      <p:pic>
        <p:nvPicPr>
          <p:cNvPr id="6" name="Picture 5" descr="s22_fi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374" y="1828800"/>
            <a:ext cx="567277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787C86"/>
                </a:solidFill>
                <a:latin typeface="Arial"/>
              </a:rPr>
              <a:t>Someone else trained the conv base on millions of images. You keep it, and train only your own classifier on top.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ADVANCED TOPICS · TRANSFER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Fine-tuning VGG16</a:t>
            </a:r>
          </a:p>
        </p:txBody>
      </p:sp>
      <p:pic>
        <p:nvPicPr>
          <p:cNvPr id="6" name="Picture 5" descr="s23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32525"/>
            <a:ext cx="3383280" cy="3707348"/>
          </a:xfrm>
          <a:prstGeom prst="rect">
            <a:avLst/>
          </a:prstGeom>
        </p:spPr>
      </p:pic>
      <p:pic>
        <p:nvPicPr>
          <p:cNvPr id="7" name="Picture 6" descr="s23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463" y="1920240"/>
            <a:ext cx="2775472" cy="3931920"/>
          </a:xfrm>
          <a:prstGeom prst="rect">
            <a:avLst/>
          </a:prstGeom>
        </p:spPr>
      </p:pic>
      <p:pic>
        <p:nvPicPr>
          <p:cNvPr id="8" name="Picture 7" descr="s23_im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725" y="1920240"/>
            <a:ext cx="3213588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787C86"/>
                </a:solidFill>
                <a:latin typeface="Arial"/>
              </a:rPr>
              <a:t>Unfreeze the last conv block and let backprop adapt those kernels to YOUR small dataset.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868680" cy="5029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9A780A"/>
                </a:solidFill>
                <a:latin typeface="Arial"/>
              </a:rPr>
              <a:t>ADVANCED TOPICS · TRANSFER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9601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C1E24"/>
                </a:solidFill>
                <a:latin typeface="Arial"/>
              </a:rPr>
              <a:t>Kernels from VGG16 - amazing!</a:t>
            </a:r>
          </a:p>
        </p:txBody>
      </p:sp>
      <p:pic>
        <p:nvPicPr>
          <p:cNvPr id="6" name="Picture 5" descr="s24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483" y="1920240"/>
            <a:ext cx="3364792" cy="33832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44068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C1E24"/>
                </a:solidFill>
                <a:latin typeface="Arial"/>
              </a:rPr>
              <a:t>Block 1: general textures, common to every problem</a:t>
            </a:r>
          </a:p>
        </p:txBody>
      </p:sp>
      <p:pic>
        <p:nvPicPr>
          <p:cNvPr id="8" name="Picture 7" descr="s24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599" y="1920240"/>
            <a:ext cx="3363201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80559" y="544068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C1E24"/>
                </a:solidFill>
                <a:latin typeface="Arial"/>
              </a:rPr>
              <a:t>Block 2: patterns start to specialize</a:t>
            </a:r>
          </a:p>
        </p:txBody>
      </p:sp>
      <p:pic>
        <p:nvPicPr>
          <p:cNvPr id="10" name="Picture 9" descr="s24_im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811" y="1920240"/>
            <a:ext cx="3373416" cy="338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3879" y="544068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C1E24"/>
                </a:solidFill>
                <a:latin typeface="Arial"/>
              </a:rPr>
              <a:t>Block 4: textures specific to YOUR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C86"/>
                </a:solidFill>
                <a:latin typeface="Arial"/>
              </a:rPr>
              <a:t>OPIM 5509 · Introduction to Deep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91072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787C86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822960"/>
            <a:ext cx="1280160" cy="64008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2B705"/>
                </a:solidFill>
                <a:latin typeface="Arial"/>
              </a:rPr>
              <a:t>MODULE 3.1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5F5F7"/>
                </a:solidFill>
                <a:latin typeface="Arial"/>
              </a:rPr>
              <a:t>Five things to remember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651760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" y="268833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81A2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E8E8EC"/>
                </a:solidFill>
                <a:latin typeface="Arial"/>
              </a:rPr>
              <a:t>Images are just numbers - B&amp;W is one channel, RGB is three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01568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" y="3438144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81A2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55848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E8E8EC"/>
                </a:solidFill>
                <a:latin typeface="Arial"/>
              </a:rPr>
              <a:t>Convolution = LIGHT downsampling; kernels are LEARNED, and each filter is an M x N x L brick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151376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" y="4187952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81A20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05656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E8E8EC"/>
                </a:solidFill>
                <a:latin typeface="Arial"/>
              </a:rPr>
              <a:t>Pooling = AGGRESSIVE downsampling; no overlap, zero trainable parameters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901184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" y="493776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81A20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55464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E8E8EC"/>
                </a:solidFill>
                <a:latin typeface="Arial"/>
              </a:rPr>
              <a:t>ConvNets build their own features: edges -&gt; textures -&gt; parts -&gt; prediction (and they're spatially invariant)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650992"/>
            <a:ext cx="310896" cy="310896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" y="5687568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81A20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605272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E8E8EC"/>
                </a:solidFill>
                <a:latin typeface="Arial"/>
              </a:rPr>
              <a:t>Conv2D parms = ((M · N · L) + B) · F  -  next up: use it to rebuild model.summary() by hand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93408"/>
            <a:ext cx="12191695" cy="36576"/>
          </a:xfrm>
          <a:prstGeom prst="rect">
            <a:avLst/>
          </a:prstGeom>
          <a:solidFill>
            <a:srgbClr val="8C6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