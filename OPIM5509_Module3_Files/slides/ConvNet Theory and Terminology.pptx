
<file path=[Content_Types].xml><?xml version="1.0" encoding="utf-8"?>
<Types xmlns="http://schemas.openxmlformats.org/package/2006/content-types">
  <Default ContentType="image/jpeg" Extension="jpg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8df8344cd4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8df8344cd4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p2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p3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p4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p6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8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11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2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2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3050" lIns="86100" spcFirstLastPara="1" rIns="86100" wrap="square" tIns="430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3" name="Google Shape;213;p12:notes"/>
          <p:cNvSpPr txBox="1"/>
          <p:nvPr>
            <p:ph idx="12" type="sldNum"/>
          </p:nvPr>
        </p:nvSpPr>
        <p:spPr>
          <a:xfrm>
            <a:off x="3884462" y="8685889"/>
            <a:ext cx="2971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b" bIns="43050" lIns="86100" spcFirstLastPara="1" rIns="86100" wrap="square" tIns="430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0" name="Google Shape;220;p13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5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15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3050" lIns="86100" spcFirstLastPara="1" rIns="86100" wrap="square" tIns="430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3" name="Google Shape;233;p15:notes"/>
          <p:cNvSpPr txBox="1"/>
          <p:nvPr>
            <p:ph idx="12" type="sldNum"/>
          </p:nvPr>
        </p:nvSpPr>
        <p:spPr>
          <a:xfrm>
            <a:off x="3884462" y="8685889"/>
            <a:ext cx="2971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b" bIns="43050" lIns="86100" spcFirstLastPara="1" rIns="86100" wrap="square" tIns="430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16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7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p17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8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1" name="Google Shape;261;p18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9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9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8df8344cd4_0_29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4" name="Google Shape;284;g8df8344cd4_0_29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8df8344cd4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8df8344cd4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0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1" name="Google Shape;301;p20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1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8" name="Google Shape;308;p21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3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p23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>
            <p:ph type="ctr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sz="6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825038" y="3483864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500"/>
              <a:buNone/>
              <a:defRPr sz="1500"/>
            </a:lvl9pPr>
          </a:lstStyle>
          <a:p/>
        </p:txBody>
      </p:sp>
      <p:cxnSp>
        <p:nvCxnSpPr>
          <p:cNvPr id="17" name="Google Shape;17;p2"/>
          <p:cNvCxnSpPr/>
          <p:nvPr/>
        </p:nvCxnSpPr>
        <p:spPr>
          <a:xfrm>
            <a:off x="905744" y="3356056"/>
            <a:ext cx="7406400" cy="0"/>
          </a:xfrm>
          <a:prstGeom prst="straightConnector1">
            <a:avLst/>
          </a:prstGeom>
          <a:noFill/>
          <a:ln cap="flat" cmpd="sng" w="127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">
  <p:cSld name="Only 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0" type="dt"/>
          </p:nvPr>
        </p:nvSpPr>
        <p:spPr>
          <a:xfrm>
            <a:off x="7618295" y="4896000"/>
            <a:ext cx="833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3196962" y="4896000"/>
            <a:ext cx="43785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2976">
          <p15:clr>
            <a:srgbClr val="FBAE40"/>
          </p15:clr>
        </p15:guide>
        <p15:guide id="2" orient="horz" pos="2909">
          <p15:clr>
            <a:srgbClr val="FBAE40"/>
          </p15:clr>
        </p15:guide>
        <p15:guide id="3" orient="horz" pos="963">
          <p15:clr>
            <a:srgbClr val="FBAE40"/>
          </p15:clr>
        </p15:guide>
        <p15:guide id="4" pos="278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numbering">
  <p:cSld name="Title and numbering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306000" y="1206000"/>
            <a:ext cx="8530200" cy="36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  <a:defRPr/>
            </a:lvl1pPr>
            <a:lvl2pPr indent="-342900" lvl="1" marL="9144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2pPr>
            <a:lvl3pPr indent="-342900" lvl="2" marL="13716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3pPr>
            <a:lvl4pPr indent="-342900" lvl="3" marL="18288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4pPr>
            <a:lvl5pPr indent="-342900" lvl="4" marL="22860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5pPr>
            <a:lvl6pPr indent="-342900" lvl="5" marL="27432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6pPr>
            <a:lvl7pPr indent="-342900" lvl="6" marL="32004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7pPr>
            <a:lvl8pPr indent="-342900" lvl="7" marL="36576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8pPr>
            <a:lvl9pPr indent="-342900" lvl="8" marL="4114800" algn="l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dk2"/>
              </a:buClr>
              <a:buSzPts val="1800"/>
              <a:buChar char="◦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7618295" y="4896000"/>
            <a:ext cx="833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3196962" y="4896000"/>
            <a:ext cx="43785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822960" y="1581151"/>
            <a:ext cx="7543800" cy="28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/>
          <p:nvPr/>
        </p:nvSpPr>
        <p:spPr>
          <a:xfrm>
            <a:off x="12" y="0"/>
            <a:ext cx="3490500" cy="51435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7"/>
          <p:cNvSpPr txBox="1"/>
          <p:nvPr>
            <p:ph type="title"/>
          </p:nvPr>
        </p:nvSpPr>
        <p:spPr>
          <a:xfrm>
            <a:off x="482600" y="589787"/>
            <a:ext cx="2638200" cy="1570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094238" y="609599"/>
            <a:ext cx="44463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82599" y="2282288"/>
            <a:ext cx="2638200" cy="22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48" name="Google Shape;48;p7"/>
          <p:cNvSpPr txBox="1"/>
          <p:nvPr>
            <p:ph idx="10" type="dt"/>
          </p:nvPr>
        </p:nvSpPr>
        <p:spPr>
          <a:xfrm>
            <a:off x="482598" y="4834890"/>
            <a:ext cx="2638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1" type="ftr"/>
          </p:nvPr>
        </p:nvSpPr>
        <p:spPr>
          <a:xfrm>
            <a:off x="4094237" y="4834890"/>
            <a:ext cx="40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" type="body"/>
          </p:nvPr>
        </p:nvSpPr>
        <p:spPr>
          <a:xfrm>
            <a:off x="822960" y="1590675"/>
            <a:ext cx="3480000" cy="2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2" type="body"/>
          </p:nvPr>
        </p:nvSpPr>
        <p:spPr>
          <a:xfrm>
            <a:off x="4886958" y="1590675"/>
            <a:ext cx="3480000" cy="2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b="0" sz="6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822960" y="3497580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cxnSp>
        <p:nvCxnSpPr>
          <p:cNvPr id="62" name="Google Shape;62;p9"/>
          <p:cNvCxnSpPr/>
          <p:nvPr/>
        </p:nvCxnSpPr>
        <p:spPr>
          <a:xfrm>
            <a:off x="905744" y="3363849"/>
            <a:ext cx="7406400" cy="0"/>
          </a:xfrm>
          <a:prstGeom prst="straightConnector1">
            <a:avLst/>
          </a:prstGeom>
          <a:noFill/>
          <a:ln cap="flat" cmpd="sng" w="127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22960" y="1543050"/>
            <a:ext cx="3480000" cy="5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69" name="Google Shape;69;p10"/>
          <p:cNvSpPr txBox="1"/>
          <p:nvPr>
            <p:ph idx="2" type="body"/>
          </p:nvPr>
        </p:nvSpPr>
        <p:spPr>
          <a:xfrm>
            <a:off x="822960" y="2218706"/>
            <a:ext cx="3480000" cy="21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3" type="body"/>
          </p:nvPr>
        </p:nvSpPr>
        <p:spPr>
          <a:xfrm>
            <a:off x="4886958" y="1543050"/>
            <a:ext cx="3480000" cy="5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71" name="Google Shape;71;p10"/>
          <p:cNvSpPr txBox="1"/>
          <p:nvPr>
            <p:ph idx="4" type="body"/>
          </p:nvPr>
        </p:nvSpPr>
        <p:spPr>
          <a:xfrm>
            <a:off x="4886958" y="2218705"/>
            <a:ext cx="3480000" cy="21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/>
          <p:nvPr/>
        </p:nvSpPr>
        <p:spPr>
          <a:xfrm>
            <a:off x="0" y="3433763"/>
            <a:ext cx="9141600" cy="17097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2"/>
          <p:cNvSpPr/>
          <p:nvPr>
            <p:ph idx="2" type="pic"/>
          </p:nvPr>
        </p:nvSpPr>
        <p:spPr>
          <a:xfrm>
            <a:off x="11" y="0"/>
            <a:ext cx="9144000" cy="34338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t" bIns="34275" lIns="342900" spcFirstLastPara="1" rIns="0" wrap="square" tIns="3429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b="0" i="0" sz="2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2100"/>
              <a:buFont typeface="Calibri"/>
              <a:buNone/>
              <a:defRPr b="0" i="0" sz="2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Calibri"/>
              <a:buNone/>
              <a:defRPr b="0" i="0" sz="1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type="title"/>
          </p:nvPr>
        </p:nvSpPr>
        <p:spPr>
          <a:xfrm>
            <a:off x="822959" y="3599522"/>
            <a:ext cx="7585200" cy="55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68575" spcFirstLastPara="1" rIns="68575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" type="body"/>
          </p:nvPr>
        </p:nvSpPr>
        <p:spPr>
          <a:xfrm>
            <a:off x="822959" y="4286250"/>
            <a:ext cx="7584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8575" spcFirstLastPara="1" rIns="68575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85" name="Google Shape;85;p12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3"/>
          <p:cNvSpPr txBox="1"/>
          <p:nvPr>
            <p:ph idx="1" type="body"/>
          </p:nvPr>
        </p:nvSpPr>
        <p:spPr>
          <a:xfrm rot="5400000">
            <a:off x="3184560" y="-780449"/>
            <a:ext cx="2820600" cy="75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3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 txBox="1"/>
          <p:nvPr>
            <p:ph type="title"/>
          </p:nvPr>
        </p:nvSpPr>
        <p:spPr>
          <a:xfrm rot="5400000">
            <a:off x="5369550" y="1483427"/>
            <a:ext cx="4320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14"/>
          <p:cNvSpPr txBox="1"/>
          <p:nvPr>
            <p:ph idx="1" type="body"/>
          </p:nvPr>
        </p:nvSpPr>
        <p:spPr>
          <a:xfrm rot="5400000">
            <a:off x="1368975" y="-431173"/>
            <a:ext cx="4320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5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2984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3pPr>
            <a:lvl4pPr indent="-2984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4pPr>
            <a:lvl5pPr indent="-2984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5pPr>
            <a:lvl6pPr indent="-29845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6pPr>
            <a:lvl7pPr indent="-29845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7pPr>
            <a:lvl8pPr indent="-29845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8pPr>
            <a:lvl9pPr indent="-29845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100"/>
              <a:buChar char="◦"/>
              <a:defRPr/>
            </a:lvl9pPr>
          </a:lstStyle>
          <a:p/>
        </p:txBody>
      </p:sp>
      <p:sp>
        <p:nvSpPr>
          <p:cNvPr id="104" name="Google Shape;10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_Content_w_green_bkgrnd" showMasterSp="0">
  <p:cSld name="3_Title_Content_w_green_bkgrnd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/>
          <p:nvPr/>
        </p:nvSpPr>
        <p:spPr>
          <a:xfrm>
            <a:off x="0" y="0"/>
            <a:ext cx="9142500" cy="5143500"/>
          </a:xfrm>
          <a:prstGeom prst="rect">
            <a:avLst/>
          </a:prstGeom>
          <a:solidFill>
            <a:srgbClr val="00368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6"/>
          <p:cNvSpPr txBox="1"/>
          <p:nvPr>
            <p:ph idx="10" type="dt"/>
          </p:nvPr>
        </p:nvSpPr>
        <p:spPr>
          <a:xfrm>
            <a:off x="7618295" y="4896000"/>
            <a:ext cx="833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p16"/>
          <p:cNvSpPr txBox="1"/>
          <p:nvPr>
            <p:ph idx="11" type="ftr"/>
          </p:nvPr>
        </p:nvSpPr>
        <p:spPr>
          <a:xfrm>
            <a:off x="3196962" y="4896000"/>
            <a:ext cx="43785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b="1"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6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b="0" i="0" sz="36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22960" y="1581151"/>
            <a:ext cx="7543800" cy="28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23850" lvl="0" marL="45720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Char char=" "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 marR="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" name="Google Shape;12;p1"/>
          <p:cNvCxnSpPr/>
          <p:nvPr/>
        </p:nvCxnSpPr>
        <p:spPr>
          <a:xfrm>
            <a:off x="895149" y="1423035"/>
            <a:ext cx="7475100" cy="0"/>
          </a:xfrm>
          <a:prstGeom prst="straightConnector1">
            <a:avLst/>
          </a:prstGeom>
          <a:noFill/>
          <a:ln cap="flat" cmpd="sng" w="127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drive.google.com/file/d/15uZmpjzh71QEfSj9uQMqvuq57tvdI9N2/view" TargetMode="External"/><Relationship Id="rId4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gif"/><Relationship Id="rId4" Type="http://schemas.openxmlformats.org/officeDocument/2006/relationships/hyperlink" Target="https://keras.io/api/layers/convolution_layers/convolution2d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gif"/><Relationship Id="rId4" Type="http://schemas.openxmlformats.org/officeDocument/2006/relationships/hyperlink" Target="https://keras.io/api/layers/pooling_layers/max_pooling2d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gif"/><Relationship Id="rId4" Type="http://schemas.openxmlformats.org/officeDocument/2006/relationships/hyperlink" Target="https://becominghuman.ai/building-an-image-classifier-using-deep-learning-in-python-totally-from-a-beginners-perspective-be8dbaf22dd8" TargetMode="External"/><Relationship Id="rId5" Type="http://schemas.openxmlformats.org/officeDocument/2006/relationships/hyperlink" Target="https://towardsdatascience.com/image-classifier-cats-vs-dogs-with-convolutional-neural-networks-cnns-and-google-colabs-4e9af21ae7a8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Relationship Id="rId4" Type="http://schemas.openxmlformats.org/officeDocument/2006/relationships/image" Target="../media/image20.png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/>
          <p:nvPr>
            <p:ph type="ctr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ConvNet Theory and Terminology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8" title="DL Dog PastaMaker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55325" y="0"/>
            <a:ext cx="4838700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Images are data!</a:t>
            </a:r>
            <a:endParaRPr/>
          </a:p>
        </p:txBody>
      </p:sp>
      <p:sp>
        <p:nvSpPr>
          <p:cNvPr id="126" name="Google Shape;126;p19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7" name="Google Shape;127;p19"/>
          <p:cNvPicPr preferRelativeResize="0"/>
          <p:nvPr/>
        </p:nvPicPr>
        <p:blipFill rotWithShape="1">
          <a:blip r:embed="rId3">
            <a:alphaModFix/>
          </a:blip>
          <a:srcRect b="27775" l="17232" r="21783" t="26192"/>
          <a:stretch/>
        </p:blipFill>
        <p:spPr>
          <a:xfrm>
            <a:off x="106136" y="1102178"/>
            <a:ext cx="8935099" cy="3793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Outline kernel and convolution</a:t>
            </a:r>
            <a:endParaRPr/>
          </a:p>
        </p:txBody>
      </p:sp>
      <p:sp>
        <p:nvSpPr>
          <p:cNvPr id="133" name="Google Shape;133;p20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0"/>
          <p:cNvPicPr preferRelativeResize="0"/>
          <p:nvPr/>
        </p:nvPicPr>
        <p:blipFill rotWithShape="1">
          <a:blip r:embed="rId3">
            <a:alphaModFix/>
          </a:blip>
          <a:srcRect b="9839" l="19729" r="20986" t="46033"/>
          <a:stretch/>
        </p:blipFill>
        <p:spPr>
          <a:xfrm>
            <a:off x="81926" y="1409547"/>
            <a:ext cx="8988595" cy="37632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/>
          <p:cNvPicPr preferRelativeResize="0"/>
          <p:nvPr/>
        </p:nvPicPr>
        <p:blipFill rotWithShape="1">
          <a:blip r:embed="rId3">
            <a:alphaModFix/>
          </a:blip>
          <a:srcRect b="64762" l="38125" r="39462" t="12698"/>
          <a:stretch/>
        </p:blipFill>
        <p:spPr>
          <a:xfrm>
            <a:off x="7185899" y="-3023"/>
            <a:ext cx="1958102" cy="1107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Emboss kernel and convolution</a:t>
            </a:r>
            <a:endParaRPr/>
          </a:p>
        </p:txBody>
      </p:sp>
      <p:sp>
        <p:nvSpPr>
          <p:cNvPr id="141" name="Google Shape;141;p21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1"/>
          <p:cNvPicPr preferRelativeResize="0"/>
          <p:nvPr/>
        </p:nvPicPr>
        <p:blipFill rotWithShape="1">
          <a:blip r:embed="rId3">
            <a:alphaModFix/>
          </a:blip>
          <a:srcRect b="9363" l="19730" r="20894" t="45872"/>
          <a:stretch/>
        </p:blipFill>
        <p:spPr>
          <a:xfrm>
            <a:off x="73479" y="1314450"/>
            <a:ext cx="8984928" cy="3810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1"/>
          <p:cNvPicPr preferRelativeResize="0"/>
          <p:nvPr/>
        </p:nvPicPr>
        <p:blipFill rotWithShape="1">
          <a:blip r:embed="rId3">
            <a:alphaModFix/>
          </a:blip>
          <a:srcRect b="65713" l="38570" r="39463" t="12699"/>
          <a:stretch/>
        </p:blipFill>
        <p:spPr>
          <a:xfrm>
            <a:off x="7135584" y="0"/>
            <a:ext cx="2008416" cy="1110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Sharpen kernel and convolution</a:t>
            </a:r>
            <a:endParaRPr/>
          </a:p>
        </p:txBody>
      </p:sp>
      <p:sp>
        <p:nvSpPr>
          <p:cNvPr id="149" name="Google Shape;149;p22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2"/>
          <p:cNvPicPr preferRelativeResize="0"/>
          <p:nvPr/>
        </p:nvPicPr>
        <p:blipFill rotWithShape="1">
          <a:blip r:embed="rId3">
            <a:alphaModFix/>
          </a:blip>
          <a:srcRect b="10159" l="19824" r="20890" t="46030"/>
          <a:stretch/>
        </p:blipFill>
        <p:spPr>
          <a:xfrm>
            <a:off x="17630" y="1398814"/>
            <a:ext cx="9036562" cy="3756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/>
          <p:cNvPicPr preferRelativeResize="0"/>
          <p:nvPr/>
        </p:nvPicPr>
        <p:blipFill rotWithShape="1">
          <a:blip r:embed="rId3">
            <a:alphaModFix/>
          </a:blip>
          <a:srcRect b="66031" l="38570" r="39554" t="12856"/>
          <a:stretch/>
        </p:blipFill>
        <p:spPr>
          <a:xfrm>
            <a:off x="7143750" y="8163"/>
            <a:ext cx="2000251" cy="1085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https://hackernoon.com/hn-images/1*ZCjPUFrB6eHPRi4eyP6aaA.gif" id="157" name="Google Shape;15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9566" y="918375"/>
            <a:ext cx="5725908" cy="4180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3"/>
          <p:cNvSpPr txBox="1"/>
          <p:nvPr/>
        </p:nvSpPr>
        <p:spPr>
          <a:xfrm>
            <a:off x="5028000" y="62475"/>
            <a:ext cx="4116000" cy="8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Left: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 Green is the original image; yellow is the kernel (constant values!) that slides along with a stride of 1. Notice the overlap of the yellow kernel.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Right: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 The corresponding convolution between the image and kernel. The ‘convolved feature’ is known as a ‘feature map’.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3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Convolution and stride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i="1" lang="en" sz="3100">
                <a:solidFill>
                  <a:srgbClr val="FF0000"/>
                </a:solidFill>
              </a:rPr>
              <a:t>(light downsampling)</a:t>
            </a:r>
            <a:endParaRPr i="1" sz="3100">
              <a:solidFill>
                <a:srgbClr val="FF0000"/>
              </a:solidFill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162275" y="2109600"/>
            <a:ext cx="2109600" cy="12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  <a:latin typeface="Verdana"/>
                <a:ea typeface="Verdana"/>
                <a:cs typeface="Verdana"/>
                <a:sym typeface="Verdana"/>
              </a:rPr>
              <a:t>Going from a high-rez to a low-rez image is called “downsampling.”</a:t>
            </a:r>
            <a:endParaRPr sz="1000">
              <a:solidFill>
                <a:srgbClr val="333333"/>
              </a:solidFill>
              <a:highlight>
                <a:srgbClr val="FFFFFF"/>
              </a:highlight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1" name="Google Shape;161;p23"/>
          <p:cNvSpPr txBox="1"/>
          <p:nvPr/>
        </p:nvSpPr>
        <p:spPr>
          <a:xfrm>
            <a:off x="28225" y="4480275"/>
            <a:ext cx="4826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u="sng">
                <a:solidFill>
                  <a:schemeClr val="hlink"/>
                </a:solidFill>
                <a:hlinkClick r:id="rId4"/>
              </a:rPr>
              <a:t>https://keras.io/api/layers/convolution_layers/convolution2d/</a:t>
            </a:r>
            <a:endParaRPr sz="1100"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500" y="918375"/>
            <a:ext cx="5649599" cy="359064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4"/>
          <p:cNvSpPr txBox="1"/>
          <p:nvPr/>
        </p:nvSpPr>
        <p:spPr>
          <a:xfrm>
            <a:off x="5679900" y="918375"/>
            <a:ext cx="3464100" cy="23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Left: 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The output of the convolution layer is a feature map, which then undergoes a MaxPooling operation  where we AGGRESSIVELY downsample the image.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Right: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 The 4*4 feature map becomes a 2*2 feature map! We are just taking the max value within that square and depositing it on the right.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4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MaxPooling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i="1" lang="en" sz="3100">
                <a:solidFill>
                  <a:srgbClr val="FF0000"/>
                </a:solidFill>
              </a:rPr>
              <a:t>(aggressive downsampling)</a:t>
            </a:r>
            <a:endParaRPr/>
          </a:p>
        </p:txBody>
      </p:sp>
      <p:sp>
        <p:nvSpPr>
          <p:cNvPr id="170" name="Google Shape;170;p24"/>
          <p:cNvSpPr txBox="1"/>
          <p:nvPr/>
        </p:nvSpPr>
        <p:spPr>
          <a:xfrm>
            <a:off x="0" y="4509025"/>
            <a:ext cx="4374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hlinkClick r:id="rId4"/>
              </a:rPr>
              <a:t>https://keras.io/api/layers/pooling_layers/max_pooling2d/</a:t>
            </a:r>
            <a:endParaRPr sz="1200"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No more feature engineering!</a:t>
            </a:r>
            <a:endParaRPr/>
          </a:p>
        </p:txBody>
      </p:sp>
      <p:sp>
        <p:nvSpPr>
          <p:cNvPr id="176" name="Google Shape;176;p25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7" name="Google Shape;17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94604" y="1208314"/>
            <a:ext cx="4238506" cy="3502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5"/>
          <p:cNvSpPr txBox="1"/>
          <p:nvPr/>
        </p:nvSpPr>
        <p:spPr>
          <a:xfrm>
            <a:off x="4931229" y="4327071"/>
            <a:ext cx="13101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5"/>
          <p:cNvSpPr txBox="1"/>
          <p:nvPr/>
        </p:nvSpPr>
        <p:spPr>
          <a:xfrm>
            <a:off x="6055179" y="3434443"/>
            <a:ext cx="26970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LOWER LEVEL FEATURES (EDGES)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5"/>
          <p:cNvSpPr txBox="1"/>
          <p:nvPr/>
        </p:nvSpPr>
        <p:spPr>
          <a:xfrm>
            <a:off x="5586312" y="2008863"/>
            <a:ext cx="26970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HIGHER LEVEL FEATURES (TEXTURES)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5"/>
          <p:cNvSpPr txBox="1"/>
          <p:nvPr/>
        </p:nvSpPr>
        <p:spPr>
          <a:xfrm>
            <a:off x="4775543" y="1305274"/>
            <a:ext cx="26970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MODEL PREDICTION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AlexNet: a famous Convolutional Neural Network</a:t>
            </a:r>
            <a:endParaRPr/>
          </a:p>
        </p:txBody>
      </p:sp>
      <p:sp>
        <p:nvSpPr>
          <p:cNvPr id="187" name="Google Shape;187;p26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SkcQSh0NlFylFS5I8GTbGg.jpeg" id="188" name="Google Shape;18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1132" y="1534368"/>
            <a:ext cx="7315199" cy="2745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AlexNet</a:t>
            </a:r>
            <a:endParaRPr/>
          </a:p>
        </p:txBody>
      </p:sp>
      <p:sp>
        <p:nvSpPr>
          <p:cNvPr id="194" name="Google Shape;194;p27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SkcQSh0NlFylFS5I8GTbGg.jpeg" id="195" name="Google Shape;19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1132" y="1534368"/>
            <a:ext cx="7315199" cy="274562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7"/>
          <p:cNvSpPr/>
          <p:nvPr/>
        </p:nvSpPr>
        <p:spPr>
          <a:xfrm>
            <a:off x="6707459" y="1745166"/>
            <a:ext cx="1740300" cy="2169000"/>
          </a:xfrm>
          <a:prstGeom prst="ellipse">
            <a:avLst/>
          </a:prstGeom>
          <a:noFill/>
          <a:ln cap="flat" cmpd="sng" w="571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7292871" y="4045072"/>
            <a:ext cx="15444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THIS IS THE NN WE LEARNED BEFORE!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7"/>
          <p:cNvSpPr txBox="1"/>
          <p:nvPr/>
        </p:nvSpPr>
        <p:spPr>
          <a:xfrm>
            <a:off x="585449" y="4440425"/>
            <a:ext cx="64566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THIS IS THE DATA PREP WE JUST LEARNED!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7"/>
          <p:cNvSpPr/>
          <p:nvPr/>
        </p:nvSpPr>
        <p:spPr>
          <a:xfrm>
            <a:off x="585439" y="1315782"/>
            <a:ext cx="6456600" cy="2955000"/>
          </a:xfrm>
          <a:prstGeom prst="rect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7"/>
          <p:cNvSpPr txBox="1"/>
          <p:nvPr/>
        </p:nvSpPr>
        <p:spPr>
          <a:xfrm rot="-5400000">
            <a:off x="7673938" y="2652749"/>
            <a:ext cx="633300" cy="1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 rot="-5400000">
            <a:off x="6480175" y="558625"/>
            <a:ext cx="10173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FLATTEN!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Cats vs. Dogs</a:t>
            </a:r>
            <a:endParaRPr/>
          </a:p>
        </p:txBody>
      </p:sp>
      <p:sp>
        <p:nvSpPr>
          <p:cNvPr id="207" name="Google Shape;207;p28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Image result for convolutional neural network animated gif" id="208" name="Google Shape;20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1413" y="894800"/>
            <a:ext cx="6800227" cy="38227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8"/>
          <p:cNvSpPr txBox="1"/>
          <p:nvPr/>
        </p:nvSpPr>
        <p:spPr>
          <a:xfrm>
            <a:off x="5118600" y="0"/>
            <a:ext cx="4025400" cy="8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References (great reading, too):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-"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https://becominghuman.ai/building-an-image-classifier-using-deep-learning-in-python-totally-from-a-beginners-perspective-be8dbaf22dd8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-"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https://towardsdatascience.com/image-classifier-cats-vs-dogs-with-convolutional-neural-networks-cnns-and-google-colabs-4e9af21ae7a8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OfbX5Lahe8Y6NiTF_98PZg.png" id="216" name="Google Shape;216;p29"/>
          <p:cNvPicPr preferRelativeResize="0"/>
          <p:nvPr/>
        </p:nvPicPr>
        <p:blipFill rotWithShape="1">
          <a:blip r:embed="rId3">
            <a:alphaModFix/>
          </a:blip>
          <a:srcRect b="0" l="0" r="0" t="6006"/>
          <a:stretch/>
        </p:blipFill>
        <p:spPr>
          <a:xfrm>
            <a:off x="1755321" y="118062"/>
            <a:ext cx="524750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9"/>
          <p:cNvSpPr txBox="1"/>
          <p:nvPr/>
        </p:nvSpPr>
        <p:spPr>
          <a:xfrm>
            <a:off x="1420585" y="4861512"/>
            <a:ext cx="6702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Our picture of the cat has a height of 320 px, a width of 400 px, and 3 channels.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One layer of convolution</a:t>
            </a:r>
            <a:endParaRPr/>
          </a:p>
        </p:txBody>
      </p:sp>
      <p:sp>
        <p:nvSpPr>
          <p:cNvPr id="223" name="Google Shape;223;p30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DetoY0gDYIl1wlZ6IQeWaw.png" id="224" name="Google Shape;22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8234" y="1887831"/>
            <a:ext cx="2459384" cy="203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hackernoon.com/hn-images/1*sYBiCrRBDf34NA2RaOu_gg.png" id="225" name="Google Shape;22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20976" y="1887831"/>
            <a:ext cx="2528547" cy="203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hackernoon.com/hn-images/1*Np-4OzKgaJx9k3fs2HBLog.png" id="226" name="Google Shape;226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69913" y="1887831"/>
            <a:ext cx="2603191" cy="20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0"/>
          <p:cNvSpPr txBox="1"/>
          <p:nvPr/>
        </p:nvSpPr>
        <p:spPr>
          <a:xfrm>
            <a:off x="866086" y="3992336"/>
            <a:ext cx="22908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 x 3 filter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 layer of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detail, bigger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0"/>
          <p:cNvSpPr txBox="1"/>
          <p:nvPr/>
        </p:nvSpPr>
        <p:spPr>
          <a:xfrm>
            <a:off x="3798247" y="3992336"/>
            <a:ext cx="13866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Original photo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0"/>
          <p:cNvSpPr txBox="1"/>
          <p:nvPr/>
        </p:nvSpPr>
        <p:spPr>
          <a:xfrm>
            <a:off x="6153327" y="3992336"/>
            <a:ext cx="23421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15 x 15 filter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 layer of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Less detail, smaller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1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Pooling!</a:t>
            </a:r>
            <a:endParaRPr/>
          </a:p>
        </p:txBody>
      </p:sp>
      <p:sp>
        <p:nvSpPr>
          <p:cNvPr id="236" name="Google Shape;236;p31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vGKntKeFoXIVA8ufLRW4-Q.png" id="237" name="Google Shape;237;p31"/>
          <p:cNvPicPr preferRelativeResize="0"/>
          <p:nvPr/>
        </p:nvPicPr>
        <p:blipFill rotWithShape="1">
          <a:blip r:embed="rId3">
            <a:alphaModFix/>
          </a:blip>
          <a:srcRect b="6114" l="5272" r="13866" t="13428"/>
          <a:stretch/>
        </p:blipFill>
        <p:spPr>
          <a:xfrm>
            <a:off x="723901" y="1386575"/>
            <a:ext cx="3695700" cy="2964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1"/>
          <p:cNvPicPr preferRelativeResize="0"/>
          <p:nvPr/>
        </p:nvPicPr>
        <p:blipFill rotWithShape="1">
          <a:blip r:embed="rId4">
            <a:alphaModFix/>
          </a:blip>
          <a:srcRect b="0" l="18939" r="1783" t="41479"/>
          <a:stretch/>
        </p:blipFill>
        <p:spPr>
          <a:xfrm>
            <a:off x="4655820" y="1402231"/>
            <a:ext cx="3695700" cy="30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1"/>
          <p:cNvSpPr txBox="1"/>
          <p:nvPr/>
        </p:nvSpPr>
        <p:spPr>
          <a:xfrm>
            <a:off x="1463433" y="1102179"/>
            <a:ext cx="19236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Pooling Layer (5 x 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1"/>
          <p:cNvSpPr txBox="1"/>
          <p:nvPr/>
        </p:nvSpPr>
        <p:spPr>
          <a:xfrm>
            <a:off x="5129094" y="1212285"/>
            <a:ext cx="27492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ReLu and Pooling Layer (5 x 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1"/>
          <p:cNvSpPr txBox="1"/>
          <p:nvPr/>
        </p:nvSpPr>
        <p:spPr>
          <a:xfrm>
            <a:off x="1826513" y="4474611"/>
            <a:ext cx="11973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63 x 79 x 1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1"/>
          <p:cNvSpPr txBox="1"/>
          <p:nvPr/>
        </p:nvSpPr>
        <p:spPr>
          <a:xfrm>
            <a:off x="5904947" y="4483583"/>
            <a:ext cx="11973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63 x 79 x 1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1"/>
          <p:cNvSpPr txBox="1"/>
          <p:nvPr/>
        </p:nvSpPr>
        <p:spPr>
          <a:xfrm>
            <a:off x="5955600" y="62475"/>
            <a:ext cx="2928600" cy="8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*you are welcome to include an activation function like relu in the Conv2D layer! Check model documentation.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Number of parameters in a CNN</a:t>
            </a:r>
            <a:endParaRPr/>
          </a:p>
        </p:txBody>
      </p:sp>
      <p:sp>
        <p:nvSpPr>
          <p:cNvPr id="249" name="Google Shape;249;p32"/>
          <p:cNvSpPr txBox="1"/>
          <p:nvPr>
            <p:ph idx="1" type="body"/>
          </p:nvPr>
        </p:nvSpPr>
        <p:spPr>
          <a:xfrm>
            <a:off x="306000" y="1618425"/>
            <a:ext cx="8530200" cy="32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Input Layer </a:t>
            </a:r>
            <a:r>
              <a:rPr lang="en"/>
              <a:t>: All the input layer does is read the image. So, there are no parameters learned here.</a:t>
            </a:r>
            <a:endParaRPr/>
          </a:p>
          <a:p>
            <a:pPr indent="-285750" lvl="0" marL="28575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Convolutional Layer </a:t>
            </a:r>
            <a:r>
              <a:rPr lang="en"/>
              <a:t>: Consider a convolutional layer which takes “l” feature maps as the input and has “k” feature maps as output. The filter size is “</a:t>
            </a:r>
            <a:r>
              <a:rPr b="1" lang="en"/>
              <a:t>n*m</a:t>
            </a:r>
            <a:r>
              <a:rPr lang="en"/>
              <a:t>”. Here the input has</a:t>
            </a:r>
            <a:r>
              <a:rPr b="1" lang="en"/>
              <a:t> </a:t>
            </a:r>
            <a:r>
              <a:rPr b="1" i="1" lang="en"/>
              <a:t>l=32</a:t>
            </a:r>
            <a:r>
              <a:rPr lang="en"/>
              <a:t> feature maps as inputs, </a:t>
            </a:r>
            <a:r>
              <a:rPr b="1" i="1" lang="en"/>
              <a:t>k=64</a:t>
            </a:r>
            <a:r>
              <a:rPr lang="en"/>
              <a:t> feature maps as outputs and filter size is </a:t>
            </a:r>
            <a:r>
              <a:rPr b="1" i="1" lang="en"/>
              <a:t>n=3 and m=3</a:t>
            </a:r>
            <a:r>
              <a:rPr lang="en"/>
              <a:t>. It is important to understand, that we don’t simply have a 3*3 filter, but actually, we have </a:t>
            </a:r>
            <a:r>
              <a:rPr b="1" lang="en"/>
              <a:t>3*3*32</a:t>
            </a:r>
            <a:r>
              <a:rPr lang="en"/>
              <a:t> filter, as our input has 32 dimensions. And as an output from first conv layer, we learn 64 different </a:t>
            </a:r>
            <a:r>
              <a:rPr b="1" lang="en"/>
              <a:t>3*3*32 </a:t>
            </a:r>
            <a:r>
              <a:rPr lang="en"/>
              <a:t>filters whose total weights are “</a:t>
            </a:r>
            <a:r>
              <a:rPr b="1" lang="en"/>
              <a:t>n*m*k*l</a:t>
            </a:r>
            <a:r>
              <a:rPr lang="en"/>
              <a:t>”. Then there is a term called bias for each feature map. So, the total number of parameters are “</a:t>
            </a:r>
            <a:r>
              <a:rPr b="1" lang="en"/>
              <a:t>(n*m*l+1)*k</a:t>
            </a:r>
            <a:r>
              <a:rPr lang="en"/>
              <a:t>”.</a:t>
            </a:r>
            <a:endParaRPr/>
          </a:p>
        </p:txBody>
      </p:sp>
      <p:sp>
        <p:nvSpPr>
          <p:cNvPr id="250" name="Google Shape;250;p32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3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Number of parameters in a CNN</a:t>
            </a:r>
            <a:endParaRPr/>
          </a:p>
        </p:txBody>
      </p:sp>
      <p:sp>
        <p:nvSpPr>
          <p:cNvPr id="256" name="Google Shape;256;p33"/>
          <p:cNvSpPr txBox="1"/>
          <p:nvPr>
            <p:ph idx="1" type="body"/>
          </p:nvPr>
        </p:nvSpPr>
        <p:spPr>
          <a:xfrm>
            <a:off x="306000" y="1718200"/>
            <a:ext cx="8530200" cy="31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Pooling Layer</a:t>
            </a:r>
            <a:r>
              <a:rPr lang="en"/>
              <a:t>: There are no parameters you could learn in pooling layer. This layer is just used to reduce the image dimension size.</a:t>
            </a:r>
            <a:endParaRPr/>
          </a:p>
          <a:p>
            <a:pPr indent="-285750" lvl="0" marL="28575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Fully-connected Layer</a:t>
            </a:r>
            <a:r>
              <a:rPr lang="en"/>
              <a:t>: In this layer, all inputs units have a separable weight to each output unit. For “</a:t>
            </a:r>
            <a:r>
              <a:rPr i="1" lang="en"/>
              <a:t>n</a:t>
            </a:r>
            <a:r>
              <a:rPr lang="en"/>
              <a:t>” inputs and “</a:t>
            </a:r>
            <a:r>
              <a:rPr i="1" lang="en"/>
              <a:t>m</a:t>
            </a:r>
            <a:r>
              <a:rPr lang="en"/>
              <a:t>” outputs, the number of weights is “</a:t>
            </a:r>
            <a:r>
              <a:rPr b="1" i="1" lang="en"/>
              <a:t>n*m</a:t>
            </a:r>
            <a:r>
              <a:rPr lang="en"/>
              <a:t>”. Additionally, this layer has the bias for each output node, so “</a:t>
            </a:r>
            <a:r>
              <a:rPr b="1" i="1" lang="en"/>
              <a:t>(n+1)*m</a:t>
            </a:r>
            <a:r>
              <a:rPr lang="en"/>
              <a:t>” parameters.</a:t>
            </a:r>
            <a:endParaRPr/>
          </a:p>
          <a:p>
            <a:pPr indent="-285750" lvl="0" marL="28575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Output Layer</a:t>
            </a:r>
            <a:r>
              <a:rPr lang="en"/>
              <a:t>: This layer is the fully connected layer, so “</a:t>
            </a:r>
            <a:r>
              <a:rPr i="1" lang="en"/>
              <a:t>(n+1)m</a:t>
            </a:r>
            <a:r>
              <a:rPr lang="en"/>
              <a:t>” parameters, when “</a:t>
            </a:r>
            <a:r>
              <a:rPr i="1" lang="en"/>
              <a:t>n</a:t>
            </a:r>
            <a:r>
              <a:rPr lang="en"/>
              <a:t>” is the number of inputs and “</a:t>
            </a:r>
            <a:r>
              <a:rPr i="1" lang="en"/>
              <a:t>m</a:t>
            </a:r>
            <a:r>
              <a:rPr lang="en"/>
              <a:t>” is the number of outputs.</a:t>
            </a:r>
            <a:endParaRPr/>
          </a:p>
          <a:p>
            <a:pPr indent="-181099" lvl="0" marL="269999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7" name="Google Shape;257;p33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4"/>
          <p:cNvSpPr txBox="1"/>
          <p:nvPr>
            <p:ph type="title"/>
          </p:nvPr>
        </p:nvSpPr>
        <p:spPr>
          <a:xfrm>
            <a:off x="306000" y="207975"/>
            <a:ext cx="86841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Corresponding number of parameters</a:t>
            </a:r>
            <a:endParaRPr/>
          </a:p>
        </p:txBody>
      </p:sp>
      <p:pic>
        <p:nvPicPr>
          <p:cNvPr id="264" name="Google Shape;264;p3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06500" y="745259"/>
            <a:ext cx="4804800" cy="36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6500" y="4388100"/>
            <a:ext cx="4804699" cy="757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-1764" y="1611513"/>
            <a:ext cx="4284412" cy="2528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5"/>
          <p:cNvSpPr txBox="1"/>
          <p:nvPr>
            <p:ph idx="4294967295" type="title"/>
          </p:nvPr>
        </p:nvSpPr>
        <p:spPr>
          <a:xfrm>
            <a:off x="44350" y="131775"/>
            <a:ext cx="909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What do Convolutional Neural Networks learn?</a:t>
            </a:r>
            <a:endParaRPr/>
          </a:p>
        </p:txBody>
      </p:sp>
      <p:sp>
        <p:nvSpPr>
          <p:cNvPr id="273" name="Google Shape;273;p35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4" name="Google Shape;274;p35"/>
          <p:cNvSpPr/>
          <p:nvPr/>
        </p:nvSpPr>
        <p:spPr>
          <a:xfrm>
            <a:off x="544553" y="2097400"/>
            <a:ext cx="872400" cy="17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One input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5" name="Google Shape;275;p35"/>
          <p:cNvCxnSpPr>
            <a:stCxn id="274" idx="3"/>
          </p:cNvCxnSpPr>
          <p:nvPr/>
        </p:nvCxnSpPr>
        <p:spPr>
          <a:xfrm>
            <a:off x="1416953" y="2991400"/>
            <a:ext cx="351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76" name="Google Shape;276;p35"/>
          <p:cNvSpPr txBox="1"/>
          <p:nvPr/>
        </p:nvSpPr>
        <p:spPr>
          <a:xfrm>
            <a:off x="1681843" y="918363"/>
            <a:ext cx="17880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Early convolutions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5"/>
          <p:cNvSpPr txBox="1"/>
          <p:nvPr/>
        </p:nvSpPr>
        <p:spPr>
          <a:xfrm>
            <a:off x="5386215" y="901119"/>
            <a:ext cx="17880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Later convolutions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5"/>
          <p:cNvSpPr/>
          <p:nvPr/>
        </p:nvSpPr>
        <p:spPr>
          <a:xfrm>
            <a:off x="7990173" y="2798242"/>
            <a:ext cx="1095000" cy="53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Classifier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lt1"/>
                </a:solidFill>
              </a:rPr>
              <a:t>(Dense)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279" name="Google Shape;279;p35"/>
          <p:cNvCxnSpPr>
            <a:endCxn id="278" idx="1"/>
          </p:cNvCxnSpPr>
          <p:nvPr/>
        </p:nvCxnSpPr>
        <p:spPr>
          <a:xfrm>
            <a:off x="7770873" y="3067642"/>
            <a:ext cx="2193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280" name="Google Shape;280;p35"/>
          <p:cNvPicPr preferRelativeResize="0"/>
          <p:nvPr>
            <p:ph idx="4294967295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 rot="-5400000">
            <a:off x="2580315" y="351600"/>
            <a:ext cx="3809100" cy="543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35"/>
          <p:cNvSpPr txBox="1"/>
          <p:nvPr/>
        </p:nvSpPr>
        <p:spPr>
          <a:xfrm rot="-5400000">
            <a:off x="7077700" y="2663700"/>
            <a:ext cx="1095000" cy="4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Calibri"/>
                <a:ea typeface="Calibri"/>
                <a:cs typeface="Calibri"/>
                <a:sym typeface="Calibri"/>
              </a:rPr>
              <a:t>FLATTEN!</a:t>
            </a:r>
            <a:endParaRPr b="1" u="sng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6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No more feature engineering!</a:t>
            </a:r>
            <a:endParaRPr/>
          </a:p>
        </p:txBody>
      </p:sp>
      <p:sp>
        <p:nvSpPr>
          <p:cNvPr id="287" name="Google Shape;287;p36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8" name="Google Shape;28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94604" y="1208314"/>
            <a:ext cx="4238506" cy="3502478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36"/>
          <p:cNvSpPr txBox="1"/>
          <p:nvPr/>
        </p:nvSpPr>
        <p:spPr>
          <a:xfrm>
            <a:off x="4931229" y="4327071"/>
            <a:ext cx="13101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6"/>
          <p:cNvSpPr txBox="1"/>
          <p:nvPr/>
        </p:nvSpPr>
        <p:spPr>
          <a:xfrm>
            <a:off x="6055179" y="3434443"/>
            <a:ext cx="26970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LOWER LEVEL FEATURES (EDGES)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6"/>
          <p:cNvSpPr txBox="1"/>
          <p:nvPr/>
        </p:nvSpPr>
        <p:spPr>
          <a:xfrm>
            <a:off x="5586312" y="2008863"/>
            <a:ext cx="26970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HIGHER LEVEL FEATURES (TEXTURES)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6"/>
          <p:cNvSpPr txBox="1"/>
          <p:nvPr/>
        </p:nvSpPr>
        <p:spPr>
          <a:xfrm>
            <a:off x="4775543" y="1305274"/>
            <a:ext cx="26970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MODEL PREDICTION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7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Advanced Topics</a:t>
            </a:r>
            <a:endParaRPr/>
          </a:p>
        </p:txBody>
      </p:sp>
      <p:sp>
        <p:nvSpPr>
          <p:cNvPr id="298" name="Google Shape;298;p37"/>
          <p:cNvSpPr txBox="1"/>
          <p:nvPr>
            <p:ph idx="1" type="body"/>
          </p:nvPr>
        </p:nvSpPr>
        <p:spPr>
          <a:xfrm>
            <a:off x="822960" y="1581151"/>
            <a:ext cx="7543800" cy="28206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/>
              <a:t>(for later lectures, but let’s take a peek behind the curtain to keep us motivated!)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8"/>
          <p:cNvSpPr txBox="1"/>
          <p:nvPr>
            <p:ph idx="4294967295" type="title"/>
          </p:nvPr>
        </p:nvSpPr>
        <p:spPr>
          <a:xfrm>
            <a:off x="306000" y="360375"/>
            <a:ext cx="85953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Keep the base, swap classifiers</a:t>
            </a:r>
            <a:endParaRPr/>
          </a:p>
        </p:txBody>
      </p:sp>
      <p:sp>
        <p:nvSpPr>
          <p:cNvPr id="304" name="Google Shape;304;p38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05" name="Google Shape;305;p38"/>
          <p:cNvPicPr preferRelativeResize="0"/>
          <p:nvPr>
            <p:ph idx="4294967295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53322" y="977900"/>
            <a:ext cx="5235900" cy="362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Fine tuning VGG16</a:t>
            </a:r>
            <a:endParaRPr/>
          </a:p>
        </p:txBody>
      </p:sp>
      <p:sp>
        <p:nvSpPr>
          <p:cNvPr id="311" name="Google Shape;311;p39"/>
          <p:cNvSpPr txBox="1"/>
          <p:nvPr>
            <p:ph idx="12" type="sldNum"/>
          </p:nvPr>
        </p:nvSpPr>
        <p:spPr>
          <a:xfrm>
            <a:off x="8447812" y="4977642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2" name="Google Shape;31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262" y="1421279"/>
            <a:ext cx="2486025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96962" y="1288611"/>
            <a:ext cx="2400300" cy="340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18937" y="1387927"/>
            <a:ext cx="2428875" cy="2971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5" name="Google Shape;315;p39"/>
          <p:cNvCxnSpPr>
            <a:stCxn id="312" idx="2"/>
            <a:endCxn id="313" idx="0"/>
          </p:cNvCxnSpPr>
          <p:nvPr/>
        </p:nvCxnSpPr>
        <p:spPr>
          <a:xfrm rot="-5400000">
            <a:off x="1536175" y="1284629"/>
            <a:ext cx="2856900" cy="2864700"/>
          </a:xfrm>
          <a:prstGeom prst="bentConnector5">
            <a:avLst>
              <a:gd fmla="val -8002" name="adj1"/>
              <a:gd fmla="val 50750" name="adj2"/>
              <a:gd fmla="val 107999" name="adj3"/>
            </a:avLst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6" name="Google Shape;316;p39"/>
          <p:cNvCxnSpPr>
            <a:stCxn id="313" idx="2"/>
            <a:endCxn id="314" idx="0"/>
          </p:cNvCxnSpPr>
          <p:nvPr/>
        </p:nvCxnSpPr>
        <p:spPr>
          <a:xfrm rot="-5400000">
            <a:off x="4164612" y="1620336"/>
            <a:ext cx="3301200" cy="2836200"/>
          </a:xfrm>
          <a:prstGeom prst="bentConnector5">
            <a:avLst>
              <a:gd fmla="val -6925" name="adj1"/>
              <a:gd fmla="val 49749" name="adj2"/>
              <a:gd fmla="val 106922" name="adj3"/>
            </a:avLst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0"/>
          <p:cNvSpPr txBox="1"/>
          <p:nvPr>
            <p:ph type="title"/>
          </p:nvPr>
        </p:nvSpPr>
        <p:spPr>
          <a:xfrm>
            <a:off x="306000" y="360375"/>
            <a:ext cx="82878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Kernels/filters from VGG16 - amazing!</a:t>
            </a:r>
            <a:endParaRPr/>
          </a:p>
        </p:txBody>
      </p:sp>
      <p:sp>
        <p:nvSpPr>
          <p:cNvPr id="322" name="Google Shape;322;p40"/>
          <p:cNvSpPr txBox="1"/>
          <p:nvPr>
            <p:ph idx="12" type="sldNum"/>
          </p:nvPr>
        </p:nvSpPr>
        <p:spPr>
          <a:xfrm>
            <a:off x="8447812" y="47436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9" y="1255274"/>
            <a:ext cx="272821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10395" y="1255274"/>
            <a:ext cx="272692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91161" y="1255274"/>
            <a:ext cx="2735202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40"/>
          <p:cNvSpPr txBox="1"/>
          <p:nvPr/>
        </p:nvSpPr>
        <p:spPr>
          <a:xfrm>
            <a:off x="530679" y="4076700"/>
            <a:ext cx="16929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Block 1 -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 txBox="1"/>
          <p:nvPr/>
        </p:nvSpPr>
        <p:spPr>
          <a:xfrm>
            <a:off x="3612376" y="4076700"/>
            <a:ext cx="16929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Block 2 -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0"/>
          <p:cNvSpPr txBox="1"/>
          <p:nvPr/>
        </p:nvSpPr>
        <p:spPr>
          <a:xfrm>
            <a:off x="6694073" y="4076700"/>
            <a:ext cx="16929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Block 4 -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40"/>
          <p:cNvSpPr txBox="1"/>
          <p:nvPr/>
        </p:nvSpPr>
        <p:spPr>
          <a:xfrm>
            <a:off x="526020" y="4313688"/>
            <a:ext cx="21063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General textures common across all problems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0"/>
          <p:cNvSpPr txBox="1"/>
          <p:nvPr/>
        </p:nvSpPr>
        <p:spPr>
          <a:xfrm>
            <a:off x="6694073" y="4291656"/>
            <a:ext cx="22575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specific textures relevant to your 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trospectVTI">
  <a:themeElements>
    <a:clrScheme name="">
      <a:dk1>
        <a:srgbClr val="000000"/>
      </a:dk1>
      <a:lt1>
        <a:srgbClr val="FFFFFF"/>
      </a:lt1>
      <a:dk2>
        <a:srgbClr val="41242A"/>
      </a:dk2>
      <a:lt2>
        <a:srgbClr val="E2E5E8"/>
      </a:lt2>
      <a:accent1>
        <a:srgbClr val="E78A29"/>
      </a:accent1>
      <a:accent2>
        <a:srgbClr val="AFA313"/>
      </a:accent2>
      <a:accent3>
        <a:srgbClr val="7EB01F"/>
      </a:accent3>
      <a:accent4>
        <a:srgbClr val="3CBA14"/>
      </a:accent4>
      <a:accent5>
        <a:srgbClr val="21BB3C"/>
      </a:accent5>
      <a:accent6>
        <a:srgbClr val="14B976"/>
      </a:accent6>
      <a:hlink>
        <a:srgbClr val="3F7EBF"/>
      </a:hlink>
      <a:folHlink>
        <a:srgbClr val="7F7F7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