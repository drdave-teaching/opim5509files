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Videos 4-6 of M3.1: Size &amp; Trainable Parameters Pt 1-3.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Code &lt;-&gt; summary in both directions. NOTE: the second conv now makes FIVE maps - 3 in, 5 out, so nobody can confuse the two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hook: 407K vs 33K.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letters as the cheat sheet and the notebook. Drill 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Pt 1 anchor slide. Everything after is these two lines applied eight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recall, then we start counting.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grayscale channel. Batch prints as None - decided at fit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conv: L=1 (grayscale). 25 weights + 1 bias per filter, 3 filters. Output channels = F =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2x2 kernel, stride 2, no overlap: halves it. Same 3 maps, just smaller.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TRAP SLIDE. L=3 because pooling handed us 3 maps; F=5 because WE asked for 5. Each filter is a 3x3x3 brick (27 weights + 1 bias = 28), x5 filters = 140. Three in, five out - the two numbers do different jobs!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Halve it again. Dense 5x5x5 nuggets of information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Unroll the maps into one row of 125 numbers - like the first row of a dataframe. Ready for dense layers.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2 formula, unchanged. This is where most of the parms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Binary classification, softmax over 2 nodes. Regression would be 1 node, linear.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Pt 1 ends here. The chain IS the cheat-sheet answer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Pt 2: model 2 in the notebook. The calculator cell proves 22,794.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Pt 3: change channels 1-&gt;3 in input_shape. Only the FIRST conv layer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Wrap the recorded portion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 to record - flip through a couple of kernels and connect back to the setosa demo from video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verified alive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7708392" y="1752599"/>
            <a:ext cx="1388059" cy="419101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08392" y="2171700"/>
            <a:ext cx="1388059" cy="419099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08392" y="2171700"/>
            <a:ext cx="1388059" cy="125730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708392" y="2171700"/>
            <a:ext cx="1388059" cy="2095499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708392" y="2171700"/>
            <a:ext cx="1388059" cy="293370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7708392" y="1752599"/>
            <a:ext cx="1388059" cy="1676401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7708392" y="2590799"/>
            <a:ext cx="1388059" cy="838201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708392" y="3429000"/>
            <a:ext cx="1388059" cy="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708392" y="3429000"/>
            <a:ext cx="1388059" cy="838199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708392" y="3429000"/>
            <a:ext cx="1388059" cy="167640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708392" y="1752599"/>
            <a:ext cx="1388059" cy="2933701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708392" y="2590799"/>
            <a:ext cx="1388059" cy="2095501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7708392" y="3429000"/>
            <a:ext cx="1388059" cy="125730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7708392" y="4267199"/>
            <a:ext cx="1388059" cy="419101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708392" y="4686300"/>
            <a:ext cx="1388059" cy="419100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096451" y="1752599"/>
            <a:ext cx="1388059" cy="0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96451" y="1752599"/>
            <a:ext cx="1388059" cy="83820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96451" y="1752599"/>
            <a:ext cx="1388059" cy="1676401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096451" y="1752599"/>
            <a:ext cx="1388059" cy="2514600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096451" y="1752599"/>
            <a:ext cx="1388059" cy="3352801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9096451" y="1752599"/>
            <a:ext cx="1388059" cy="83820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096451" y="2590799"/>
            <a:ext cx="1388059" cy="0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096451" y="2590799"/>
            <a:ext cx="1388059" cy="838201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096451" y="2590799"/>
            <a:ext cx="1388059" cy="1676400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096451" y="2590799"/>
            <a:ext cx="1388059" cy="2514601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9096451" y="1752599"/>
            <a:ext cx="1388059" cy="1676401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9096451" y="2590799"/>
            <a:ext cx="1388059" cy="838201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096451" y="3429000"/>
            <a:ext cx="1388059" cy="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096451" y="3429000"/>
            <a:ext cx="1388059" cy="838199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096451" y="3429000"/>
            <a:ext cx="1388059" cy="167640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9096451" y="1752599"/>
            <a:ext cx="1388059" cy="2514600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9096451" y="2590799"/>
            <a:ext cx="1388059" cy="167640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9096451" y="3429000"/>
            <a:ext cx="1388059" cy="838199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096451" y="4267199"/>
            <a:ext cx="1388059" cy="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096451" y="4267199"/>
            <a:ext cx="1388059" cy="838201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9096451" y="1752599"/>
            <a:ext cx="1388059" cy="3352801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9096451" y="2590799"/>
            <a:ext cx="1388059" cy="2514601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9096451" y="3429000"/>
            <a:ext cx="1388059" cy="167640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9096451" y="4267199"/>
            <a:ext cx="1388059" cy="838201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096451" y="5105400"/>
            <a:ext cx="1388059" cy="0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484510" y="1752599"/>
            <a:ext cx="1135685" cy="1676401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484510" y="2590799"/>
            <a:ext cx="1135685" cy="838201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484510" y="3429000"/>
            <a:ext cx="1135685" cy="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0484510" y="3429000"/>
            <a:ext cx="1135685" cy="838199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0484510" y="3429000"/>
            <a:ext cx="1135685" cy="1676400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7589519" y="2052828"/>
            <a:ext cx="237744" cy="237744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589519" y="3310128"/>
            <a:ext cx="237744" cy="237744"/>
          </a:xfrm>
          <a:prstGeom prst="ellipse">
            <a:avLst/>
          </a:prstGeom>
          <a:solidFill>
            <a:srgbClr val="343740"/>
          </a:solidFill>
          <a:ln w="15240">
            <a:solidFill>
              <a:srgbClr val="5A5D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589519" y="4567428"/>
            <a:ext cx="237744" cy="237744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977579" y="1633728"/>
            <a:ext cx="237744" cy="237744"/>
          </a:xfrm>
          <a:prstGeom prst="ellipse">
            <a:avLst/>
          </a:prstGeom>
          <a:solidFill>
            <a:srgbClr val="343740"/>
          </a:solidFill>
          <a:ln w="15240">
            <a:solidFill>
              <a:srgbClr val="5A5D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977579" y="2471928"/>
            <a:ext cx="237744" cy="237744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977579" y="3310128"/>
            <a:ext cx="237744" cy="237744"/>
          </a:xfrm>
          <a:prstGeom prst="ellipse">
            <a:avLst/>
          </a:prstGeom>
          <a:solidFill>
            <a:srgbClr val="343740"/>
          </a:solidFill>
          <a:ln w="15240">
            <a:solidFill>
              <a:srgbClr val="5A5D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977579" y="4148327"/>
            <a:ext cx="237744" cy="237744"/>
          </a:xfrm>
          <a:prstGeom prst="ellipse">
            <a:avLst/>
          </a:prstGeom>
          <a:solidFill>
            <a:srgbClr val="343740"/>
          </a:solidFill>
          <a:ln w="15240">
            <a:solidFill>
              <a:srgbClr val="5A5D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977579" y="4986528"/>
            <a:ext cx="237744" cy="237744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365638" y="1633728"/>
            <a:ext cx="237744" cy="237744"/>
          </a:xfrm>
          <a:prstGeom prst="ellipse">
            <a:avLst/>
          </a:prstGeom>
          <a:solidFill>
            <a:srgbClr val="343740"/>
          </a:solidFill>
          <a:ln w="15240">
            <a:solidFill>
              <a:srgbClr val="5A5D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365638" y="2471928"/>
            <a:ext cx="237744" cy="237744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365638" y="3310128"/>
            <a:ext cx="237744" cy="237744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0365638" y="4148327"/>
            <a:ext cx="237744" cy="237744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365638" y="4986528"/>
            <a:ext cx="237744" cy="237744"/>
          </a:xfrm>
          <a:prstGeom prst="ellipse">
            <a:avLst/>
          </a:prstGeom>
          <a:solidFill>
            <a:srgbClr val="343740"/>
          </a:solidFill>
          <a:ln w="15240">
            <a:solidFill>
              <a:srgbClr val="5A5D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419027" y="3227832"/>
            <a:ext cx="402336" cy="402336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77240" y="1828800"/>
            <a:ext cx="1280160" cy="6400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7240" y="205740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F2B705"/>
                </a:solidFill>
                <a:latin typeface="Arial"/>
              </a:rPr>
              <a:t>OPIM 5509  -  MODULE 3.1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" y="2514600"/>
            <a:ext cx="6949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5F5F7"/>
                </a:solidFill>
                <a:latin typeface="Arial"/>
              </a:rPr>
              <a:t>Math for a</a:t>
            </a:r>
          </a:p>
          <a:p>
            <a:pPr algn="l"/>
            <a:r>
              <a:rPr sz="5400" b="1">
                <a:solidFill>
                  <a:srgbClr val="F5F5F7"/>
                </a:solidFill>
                <a:latin typeface="Arial"/>
              </a:rPr>
              <a:t>Simple ConvNet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7240" y="4663440"/>
            <a:ext cx="6583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A8ABB4"/>
                </a:solidFill>
                <a:latin typeface="Arial"/>
              </a:rPr>
              <a:t>Rebuild model.summary() by hand  -  pairs with Simple_Size_and_Param.ipynb</a:t>
            </a:r>
          </a:p>
        </p:txBody>
      </p:sp>
      <p:sp>
        <p:nvSpPr>
          <p:cNvPr id="66" name="Rectangle 65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1E24"/>
                </a:solidFill>
                <a:latin typeface="Arial"/>
              </a:rPr>
              <a:t>The mission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5394960" cy="3977639"/>
          </a:xfrm>
          <a:prstGeom prst="roundRect">
            <a:avLst>
              <a:gd name="adj" fmla="val 4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5740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AD878"/>
                </a:solidFill>
                <a:latin typeface="Arial"/>
              </a:rPr>
              <a:t>THE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395728"/>
            <a:ext cx="502920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DAE2"/>
                </a:solidFill>
                <a:latin typeface="Consolas"/>
              </a:rPr>
              <a:t>from tensorflow.keras import layers,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42616"/>
            <a:ext cx="502920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DAE2"/>
                </a:solidFill>
                <a:latin typeface="Consolas"/>
              </a:rPr>
              <a:t>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889504"/>
            <a:ext cx="502920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DAE2"/>
                </a:solidFill>
                <a:latin typeface="Consolas"/>
              </a:rPr>
              <a:t>model = models.Sequential()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136392"/>
            <a:ext cx="502920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FAD878"/>
                </a:solidFill>
                <a:latin typeface="Consolas"/>
              </a:rPr>
              <a:t>model.add(layers.Conv2D(3, (5, 5), activation='relu',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383280"/>
            <a:ext cx="502920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FAD878"/>
                </a:solidFill>
                <a:latin typeface="Consolas"/>
              </a:rPr>
              <a:t>                        input_shape=(28, 28, 1)))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630168"/>
            <a:ext cx="502920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DAE2"/>
                </a:solidFill>
                <a:latin typeface="Consolas"/>
              </a:rPr>
              <a:t>model.add(layers.MaxPooling2D((2, 2)))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877056"/>
            <a:ext cx="502920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FAD878"/>
                </a:solidFill>
                <a:latin typeface="Consolas"/>
              </a:rPr>
              <a:t>model.add(layers.Conv2D(5, (3, 3), activation='relu'))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123944"/>
            <a:ext cx="502920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DAE2"/>
                </a:solidFill>
                <a:latin typeface="Consolas"/>
              </a:rPr>
              <a:t>model.add(layers.MaxPooling2D((2, 2)))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370832"/>
            <a:ext cx="502920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DAE2"/>
                </a:solidFill>
                <a:latin typeface="Consolas"/>
              </a:rPr>
              <a:t>model.add(layers.Flatten())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617720"/>
            <a:ext cx="502920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FAD878"/>
                </a:solidFill>
                <a:latin typeface="Consolas"/>
              </a:rPr>
              <a:t>model.add(layers.Dense(256, activation='relu'))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864608"/>
            <a:ext cx="502920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FAD878"/>
                </a:solidFill>
                <a:latin typeface="Consolas"/>
              </a:rPr>
              <a:t>model.add(layers.Dense(2, activation='softmax'))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111496"/>
            <a:ext cx="502920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DAE2"/>
                </a:solidFill>
                <a:latin typeface="Consolas"/>
              </a:rPr>
              <a:t>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5358384"/>
            <a:ext cx="502920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DAE2"/>
                </a:solidFill>
                <a:latin typeface="Consolas"/>
              </a:rPr>
              <a:t>model.summary()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1874519"/>
            <a:ext cx="5029200" cy="3977639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0840" y="2075688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WHAT MODEL.SUMMARY() WILL PRINT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239572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1C1E24"/>
                </a:solidFill>
                <a:latin typeface="Consolas"/>
              </a:rPr>
              <a:t>conv2d (Conv2D)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32520" y="2395728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Consolas"/>
              </a:rPr>
              <a:t>(None, 24, 24, 3)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61320" y="239572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8C6908"/>
                </a:solidFill>
                <a:latin typeface="Consolas"/>
              </a:rPr>
              <a:t>78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2779776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1C1E24"/>
                </a:solidFill>
                <a:latin typeface="Consolas"/>
              </a:rPr>
              <a:t>max_pooling2d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2779776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Consolas"/>
              </a:rPr>
              <a:t>(None, 12, 12, 3)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61320" y="2779776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0">
                <a:solidFill>
                  <a:srgbClr val="787C86"/>
                </a:solidFill>
                <a:latin typeface="Consolas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3163824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1C1E24"/>
                </a:solidFill>
                <a:latin typeface="Consolas"/>
              </a:rPr>
              <a:t>conv2d_1 (Conv2D)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20" y="3163824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Consolas"/>
              </a:rPr>
              <a:t>(None, 10, 10, 5)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61320" y="3163824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8C6908"/>
                </a:solidFill>
                <a:latin typeface="Consolas"/>
              </a:rPr>
              <a:t>140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0840" y="3547872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1C1E24"/>
                </a:solidFill>
                <a:latin typeface="Consolas"/>
              </a:rPr>
              <a:t>max_pooling2d_1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32520" y="3547872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Consolas"/>
              </a:rPr>
              <a:t>(None, 5, 5, 5)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1320" y="3547872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0">
                <a:solidFill>
                  <a:srgbClr val="787C86"/>
                </a:solidFill>
                <a:latin typeface="Consolas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0840" y="393192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1C1E24"/>
                </a:solidFill>
                <a:latin typeface="Consolas"/>
              </a:rPr>
              <a:t>flatten (Flatten)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32520" y="393192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Consolas"/>
              </a:rPr>
              <a:t>(None, 125)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61320" y="393192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0">
                <a:solidFill>
                  <a:srgbClr val="787C86"/>
                </a:solidFill>
                <a:latin typeface="Consolas"/>
              </a:rPr>
              <a:t>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431596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1C1E24"/>
                </a:solidFill>
                <a:latin typeface="Consolas"/>
              </a:rPr>
              <a:t>dense (Dense)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32520" y="4315968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Consolas"/>
              </a:rPr>
              <a:t>(None, 256)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61320" y="431596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8C6908"/>
                </a:solidFill>
                <a:latin typeface="Consolas"/>
              </a:rPr>
              <a:t>32,256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20840" y="4700016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1C1E24"/>
                </a:solidFill>
                <a:latin typeface="Consolas"/>
              </a:rPr>
              <a:t>dense_1 (Dense)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32520" y="4700016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Consolas"/>
              </a:rPr>
              <a:t>(None, 2)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61320" y="4700016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8C6908"/>
                </a:solidFill>
                <a:latin typeface="Consolas"/>
              </a:rPr>
              <a:t>514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720840" y="5138928"/>
            <a:ext cx="4572000" cy="0"/>
          </a:xfrm>
          <a:prstGeom prst="line">
            <a:avLst/>
          </a:prstGeom>
          <a:ln w="1905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720840" y="5248656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1E24"/>
                </a:solidFill>
                <a:latin typeface="Consolas"/>
              </a:rPr>
              <a:t>Total params: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5520" y="5230368"/>
            <a:ext cx="14173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800" b="1">
                <a:solidFill>
                  <a:srgbClr val="1C1E24"/>
                </a:solidFill>
                <a:latin typeface="Consolas"/>
              </a:rPr>
              <a:t>32,988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" y="6053328"/>
            <a:ext cx="10652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1E24"/>
                </a:solidFill>
                <a:latin typeface="Arial"/>
              </a:rPr>
              <a:t>Given the code, produce the summary by hand - every shape, every count. </a:t>
            </a:r>
            <a:r>
              <a:rPr sz="1500" b="1">
                <a:solidFill>
                  <a:srgbClr val="9A780A"/>
                </a:solidFill>
                <a:latin typeface="Arial"/>
              </a:rPr>
              <a:t>That is mastery. That is also the exam.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1E24"/>
                </a:solidFill>
                <a:latin typeface="Arial"/>
              </a:rPr>
              <a:t>Why ConvNets? Look at the parms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5257800" cy="310896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5146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C6908"/>
                </a:solidFill>
                <a:latin typeface="Arial"/>
              </a:rPr>
              <a:t>YOUR M2 MNIST DENSE 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7180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787C86"/>
                </a:solidFill>
                <a:latin typeface="Arial"/>
              </a:rPr>
              <a:t>~407,000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06908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787C86"/>
                </a:solidFill>
                <a:latin typeface="Arial"/>
              </a:rPr>
              <a:t>parameters - and it falls apart if the digit moves off-center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103120"/>
            <a:ext cx="5166360" cy="310896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5146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C6908"/>
                </a:solidFill>
                <a:latin typeface="Arial"/>
              </a:rPr>
              <a:t>TODAY'S CONVNET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97180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1C1E24"/>
                </a:solidFill>
                <a:latin typeface="Arial"/>
              </a:rPr>
              <a:t>32,988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06908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1C1E24"/>
                </a:solidFill>
                <a:latin typeface="Arial"/>
              </a:rPr>
              <a:t>parameters - 12x fewer, and it handles shifted/rotated images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577840"/>
            <a:ext cx="10652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9A780A"/>
                </a:solidFill>
                <a:latin typeface="Arial"/>
              </a:rPr>
              <a:t>Fewer parameters, better behavior. The rest of this deck shows exactly where 32,988 comes from.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1E24"/>
                </a:solidFill>
                <a:latin typeface="Arial"/>
              </a:rPr>
              <a:t>The cast of characters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1554480" cy="640080"/>
          </a:xfrm>
          <a:prstGeom prst="roundRect">
            <a:avLst>
              <a:gd name="adj" fmla="val 25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30552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AD878"/>
                </a:solidFill>
                <a:latin typeface="Arial"/>
              </a:rPr>
              <a:t>M, 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2139696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C1E24"/>
                </a:solidFill>
                <a:latin typeface="Arial"/>
              </a:rPr>
              <a:t>filter size (e.g. a 5 x 5 kernel)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798064"/>
            <a:ext cx="1554480" cy="640080"/>
          </a:xfrm>
          <a:prstGeom prst="roundRect">
            <a:avLst>
              <a:gd name="adj" fmla="val 25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16936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AD878"/>
                </a:solidFill>
                <a:latin typeface="Arial"/>
              </a:rPr>
              <a:t>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926080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C1E24"/>
                </a:solidFill>
                <a:latin typeface="Arial"/>
              </a:rPr>
              <a:t>channels coming INTO this layer - image: 1 BW / 3 RGB; deeper: the previous layer's 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584448"/>
            <a:ext cx="1554480" cy="640080"/>
          </a:xfrm>
          <a:prstGeom prst="roundRect">
            <a:avLst>
              <a:gd name="adj" fmla="val 25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70332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AD878"/>
                </a:solidFill>
                <a:latin typeface="Arial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3712463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C1E24"/>
                </a:solidFill>
                <a:latin typeface="Arial"/>
              </a:rPr>
              <a:t>bias - always 1 PER FILTER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370832"/>
            <a:ext cx="1554480" cy="640080"/>
          </a:xfrm>
          <a:prstGeom prst="roundRect">
            <a:avLst>
              <a:gd name="adj" fmla="val 25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489704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AD878"/>
                </a:solidFill>
                <a:latin typeface="Arial"/>
              </a:rPr>
              <a:t>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449884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C1E24"/>
                </a:solidFill>
                <a:latin typeface="Arial"/>
              </a:rPr>
              <a:t>feature maps this layer creates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157216"/>
            <a:ext cx="1554480" cy="640080"/>
          </a:xfrm>
          <a:prstGeom prst="roundRect">
            <a:avLst>
              <a:gd name="adj" fmla="val 25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76088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AD878"/>
                </a:solidFill>
                <a:latin typeface="Arial"/>
              </a:rPr>
              <a:t>Stride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5285232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C1E24"/>
                </a:solidFill>
                <a:latin typeface="Arial"/>
              </a:rPr>
              <a:t>always 1 in our conv layers (so it never appears in the formulas)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06040" y="5742432"/>
            <a:ext cx="8778240" cy="50292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34640" y="5833872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81A20"/>
                </a:solidFill>
                <a:latin typeface="Arial"/>
              </a:rPr>
              <a:t>The L is the trap: from layer 2 on, L = the previous layer's F. Not RGB!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1E24"/>
                </a:solidFill>
                <a:latin typeface="Arial"/>
              </a:rPr>
              <a:t>Only two formulas to rule them 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965960"/>
            <a:ext cx="10652760" cy="160020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67128"/>
            <a:ext cx="10012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OUTPUT SIZE (CONV, NO PADDING)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603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C1E24"/>
                </a:solidFill>
                <a:latin typeface="Arial"/>
              </a:rPr>
              <a:t>new size = old size - (M - 1)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787C86"/>
                </a:solidFill>
                <a:latin typeface="Arial"/>
              </a:rPr>
              <a:t>shapes print as (BATCH, ROWS, COLS, CHANNELS) - batch is None until you fit; channels = that layer's 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794760"/>
            <a:ext cx="10652760" cy="160020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995928"/>
            <a:ext cx="10012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TRAINABLE PARAMETERS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3891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1C1E24"/>
                </a:solidFill>
                <a:latin typeface="Arial"/>
              </a:rPr>
              <a:t>Conv2D: ((M x N x L) + B) x F      Dense: (n + 1) x m      Pool/Flatten: 0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C86"/>
                </a:solidFill>
                <a:latin typeface="Arial"/>
              </a:rPr>
              <a:t>pooling is naive - just max values, nothing to learn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532120"/>
            <a:ext cx="10652760" cy="658368"/>
          </a:xfrm>
          <a:prstGeom prst="roundRect">
            <a:avLst>
              <a:gd name="adj" fmla="val 30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614416"/>
            <a:ext cx="10149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AD878"/>
                </a:solidFill>
                <a:latin typeface="Arial"/>
              </a:rPr>
              <a:t>WORKED:  </a:t>
            </a:r>
            <a:r>
              <a:rPr sz="1300" b="0">
                <a:solidFill>
                  <a:srgbClr val="D2D4DC"/>
                </a:solidFill>
                <a:latin typeface="Arial"/>
              </a:rPr>
              <a:t>28x28 image, 5x5 kernel, F=3  -&gt;  size: 28-(5-1)=24 -&gt; (None,24,24,3)  ·  parms: ((5x5x1)+1)x3 = 78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888736"/>
            <a:ext cx="10149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AD878"/>
                </a:solidFill>
                <a:latin typeface="Arial"/>
              </a:rPr>
              <a:t>"Size" = the rows/cols of the map. That little shrink IS the light downsampling. (Pooling is the aggressive kind: 24/2 = 12.)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1E24"/>
                </a:solidFill>
                <a:latin typeface="Arial"/>
              </a:rPr>
              <a:t>Reminder: what Conv2D is doing</a:t>
            </a:r>
          </a:p>
        </p:txBody>
      </p:sp>
      <p:pic>
        <p:nvPicPr>
          <p:cNvPr id="6" name="Picture 5" descr="s07_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230" y="1920240"/>
            <a:ext cx="9927058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787C86"/>
                </a:solidFill>
                <a:latin typeface="Arial"/>
              </a:rPr>
              <a:t>Sliding kernel, stride 1, lots of overlap - the map shrinks a little. Light downsampling.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C1E24"/>
                </a:solidFill>
                <a:latin typeface="Arial"/>
              </a:rPr>
              <a:t>Start here: the input image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381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286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542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28, 28, 1)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45589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86903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389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Conv2D 3 @ 5x5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646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24, 24, 3)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76625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30006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5493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MaxPool 2x2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2750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12, 12, 3)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607661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731105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85969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Conv2D 5 @ 3x3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8537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10, 10, 5)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38697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162141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005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MaxPool 2x2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9573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5, 5, 5)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469733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59317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4804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Flatten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60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125)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00769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02421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907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164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256)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331805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045524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1011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8268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3063240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7280" y="3264408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OUTPUT SIZE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" y="3630168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Given in the code: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input_shape = (28, 28, 1)</a:t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(None, 28, 28, 1)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3063240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79" y="326440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TRAINABLE PARMS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3630168"/>
            <a:ext cx="45720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Nothing to learn yet...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0 parms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5596128"/>
            <a:ext cx="10652760" cy="566928"/>
          </a:xfrm>
          <a:prstGeom prst="roundRect">
            <a:avLst>
              <a:gd name="adj" fmla="val 50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57104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A8ABB4"/>
                </a:solidFill>
                <a:latin typeface="Arial"/>
              </a:rPr>
              <a:t>RUNNING TOTAL:  </a:t>
            </a:r>
            <a:r>
              <a:rPr sz="1800" b="1">
                <a:solidFill>
                  <a:srgbClr val="FAD878"/>
                </a:solidFill>
                <a:latin typeface="Arial"/>
              </a:rPr>
              <a:t>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C1E24"/>
                </a:solidFill>
                <a:latin typeface="Arial"/>
              </a:rPr>
              <a:t>Layer 1 - Conv2D: 3 maps @ 5x5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286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542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28, 28, 1)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45589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86903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381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389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3 @ 5x5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646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24, 24, 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5337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5337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78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76625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0006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493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MaxPool 2x2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2750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12, 12, 3)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607661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731105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85969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Conv2D 5 @ 3x3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8537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10, 10, 5)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38697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162141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005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MaxPool 2x2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9573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5, 5, 5)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469733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59317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4804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Flatten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060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125)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900769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02421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7907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256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164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256)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331805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1045524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011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8268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3063240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7280" y="3264408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OUTPUT SIZE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" y="3630168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28 - (5 - 1)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= 24   -&gt;   (None, 24, 24, 3)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3640" y="3063240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79" y="326440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TRAINABLE PARMS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3630168"/>
            <a:ext cx="45720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((5 x 5 x 1) + 1) x 3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= 78 parms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77240" y="5596128"/>
            <a:ext cx="10652760" cy="566928"/>
          </a:xfrm>
          <a:prstGeom prst="roundRect">
            <a:avLst>
              <a:gd name="adj" fmla="val 50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57104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A8ABB4"/>
                </a:solidFill>
                <a:latin typeface="Arial"/>
              </a:rPr>
              <a:t>RUNNING TOTAL:  </a:t>
            </a:r>
            <a:r>
              <a:rPr sz="1800" b="1">
                <a:solidFill>
                  <a:srgbClr val="FAD878"/>
                </a:solidFill>
                <a:latin typeface="Arial"/>
              </a:rPr>
              <a:t>78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C1E24"/>
                </a:solidFill>
                <a:latin typeface="Arial"/>
              </a:rPr>
              <a:t>Layer 2 - MaxPooling 2x2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286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542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28, 28, 1)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45589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86903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389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3 @ 5x5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646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24, 24, 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5337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5337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78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76625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0006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381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493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2750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12, 12, 3)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46373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46373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607661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731105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85969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Conv2D 5 @ 3x3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8537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10, 10, 5)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38697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162141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005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MaxPool 2x2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9573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5, 5, 5)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69733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759317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4804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Flatten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2060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125)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900769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02421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7907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5164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256)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0331805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1045524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011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8268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7240" y="3063240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97280" y="3264408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OUTPUT 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3630168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24 / 2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= 12   -&gt;   (None, 12, 12, 3)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63640" y="3063240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79" y="326440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TRAINABLE PARMS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0" y="3630168"/>
            <a:ext cx="45720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Nothing is learned - naive max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0 parms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" y="5596128"/>
            <a:ext cx="10652760" cy="566928"/>
          </a:xfrm>
          <a:prstGeom prst="roundRect">
            <a:avLst>
              <a:gd name="adj" fmla="val 50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43000" y="57104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A8ABB4"/>
                </a:solidFill>
                <a:latin typeface="Arial"/>
              </a:rPr>
              <a:t>RUNNING TOTAL:  </a:t>
            </a:r>
            <a:r>
              <a:rPr sz="1800" b="1">
                <a:solidFill>
                  <a:srgbClr val="FAD878"/>
                </a:solidFill>
                <a:latin typeface="Arial"/>
              </a:rPr>
              <a:t>78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C1E24"/>
                </a:solidFill>
                <a:latin typeface="Arial"/>
              </a:rPr>
              <a:t>Layer 3 - Conv2D: 5 maps @ 3x3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286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542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28, 28, 1)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45589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86903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389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3 @ 5x5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646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24, 24, 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5337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5337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78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76625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0006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493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2750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12, 12, 3)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46373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46373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607661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731105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381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85969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5 @ 3x3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8537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10, 10, 5)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77409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7409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140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38697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162141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005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MaxPool 2x2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9573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5, 5, 5)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469733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59317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4804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Flatten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060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125)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900769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902421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7907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164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256)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331805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1045524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1011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8268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3063240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97280" y="3264408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OUTPUT SIZE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" y="3630168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12 - (3 - 1)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= 10   -&gt;   (None, 10, 10, 5)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3640" y="3063240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79" y="326440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TRAINABLE PARMS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0" y="3630168"/>
            <a:ext cx="45720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((3 x 3 x 3) + 1) x 5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= 140 parms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77240" y="5596128"/>
            <a:ext cx="10652760" cy="566928"/>
          </a:xfrm>
          <a:prstGeom prst="roundRect">
            <a:avLst>
              <a:gd name="adj" fmla="val 50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57104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A8ABB4"/>
                </a:solidFill>
                <a:latin typeface="Arial"/>
              </a:rPr>
              <a:t>RUNNING TOTAL:  </a:t>
            </a:r>
            <a:r>
              <a:rPr sz="1800" b="1">
                <a:solidFill>
                  <a:srgbClr val="FAD878"/>
                </a:solidFill>
                <a:latin typeface="Arial"/>
              </a:rPr>
              <a:t>78 + 140 = 218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63640" y="2395728"/>
            <a:ext cx="5166360" cy="51206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46520" y="24871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81A20"/>
                </a:solidFill>
                <a:latin typeface="Arial"/>
              </a:rPr>
              <a:t>CAREFUL: L = 3 (maps coming IN), F = 5 (maps we MAKE)!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C1E24"/>
                </a:solidFill>
                <a:latin typeface="Arial"/>
              </a:rPr>
              <a:t>Layer 4 - MaxPooling 2x2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286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542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28, 28, 1)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45589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86903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389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3 @ 5x5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646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24, 24, 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5337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5337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78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76625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0006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493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2750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12, 12, 3)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46373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46373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607661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731105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85969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5 @ 3x3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8537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10, 10, 5)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77409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7409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140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38697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162141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381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005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9573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5, 5, 5)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8445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8445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469733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59317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4804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Flatten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060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125)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900769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02421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7907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256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5164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256)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0331805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1045524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011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8268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77240" y="3063240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7280" y="3264408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OUTPUT SIZE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3630168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10 / 2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= 5   -&gt;   (None, 5, 5, 5)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63640" y="3063240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79" y="326440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TRAINABLE PARMS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0" y="3630168"/>
            <a:ext cx="45720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Still nothing to learn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0 parms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77240" y="5596128"/>
            <a:ext cx="10652760" cy="566928"/>
          </a:xfrm>
          <a:prstGeom prst="roundRect">
            <a:avLst>
              <a:gd name="adj" fmla="val 50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57104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A8ABB4"/>
                </a:solidFill>
                <a:latin typeface="Arial"/>
              </a:rPr>
              <a:t>RUNNING TOTAL:  </a:t>
            </a:r>
            <a:r>
              <a:rPr sz="1800" b="1">
                <a:solidFill>
                  <a:srgbClr val="FAD878"/>
                </a:solidFill>
                <a:latin typeface="Arial"/>
              </a:rPr>
              <a:t>218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C1E24"/>
                </a:solidFill>
                <a:latin typeface="Arial"/>
              </a:rPr>
              <a:t>Layer 5 - Flatten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286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542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28, 28, 1)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45589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86903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389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3 @ 5x5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646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24, 24, 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5337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5337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78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76625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0006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493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2750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12, 12, 3)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46373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46373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607661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731105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85969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5 @ 3x3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8537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10, 10, 5)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77409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7409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140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38697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162141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005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9573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5, 5, 5)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8445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8445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469733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59317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381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4804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Flatten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060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125)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39481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39481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900769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902421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7907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164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256)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331805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1045524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1011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8268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" y="3063240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97280" y="3264408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OUTPUT SIZE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3630168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5 x 5 x 5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= 125   -&gt;   (None, 125)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63640" y="3063240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79" y="326440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TRAINABLE PARMS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0" y="3630168"/>
            <a:ext cx="45720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Just reshaping - no weights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0 parms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77240" y="5596128"/>
            <a:ext cx="10652760" cy="566928"/>
          </a:xfrm>
          <a:prstGeom prst="roundRect">
            <a:avLst>
              <a:gd name="adj" fmla="val 50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43000" y="57104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A8ABB4"/>
                </a:solidFill>
                <a:latin typeface="Arial"/>
              </a:rPr>
              <a:t>RUNNING TOTAL:  </a:t>
            </a:r>
            <a:r>
              <a:rPr sz="1800" b="1">
                <a:solidFill>
                  <a:srgbClr val="FAD878"/>
                </a:solidFill>
                <a:latin typeface="Arial"/>
              </a:rPr>
              <a:t>218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C1E24"/>
                </a:solidFill>
                <a:latin typeface="Arial"/>
              </a:rPr>
              <a:t>Layer 6 - Dense 256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286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542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28, 28, 1)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45589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86903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389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3 @ 5x5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646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24, 24, 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5337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5337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78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76625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0006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493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2750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12, 12, 3)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46373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46373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607661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731105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85969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5 @ 3x3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8537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10, 10, 5)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77409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7409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140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38697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162141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005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9573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5, 5, 5)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8445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8445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469733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59317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4804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Flatten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060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125)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39481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39481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900769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902421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381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7907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Dense 256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164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256)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70517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70517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32,256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0331805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1045524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1011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8268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77240" y="3063240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97280" y="3264408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OUTPUT SIZE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" y="3630168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256 hidden units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(None, 256)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63640" y="3063240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79" y="326440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TRAINABLE PARMS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0" y="3630168"/>
            <a:ext cx="45720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(125 + 1) x 256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= 32,256 parms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77240" y="5596128"/>
            <a:ext cx="10652760" cy="566928"/>
          </a:xfrm>
          <a:prstGeom prst="roundRect">
            <a:avLst>
              <a:gd name="adj" fmla="val 50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43000" y="57104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A8ABB4"/>
                </a:solidFill>
                <a:latin typeface="Arial"/>
              </a:rPr>
              <a:t>RUNNING TOTAL:  </a:t>
            </a:r>
            <a:r>
              <a:rPr sz="1800" b="1">
                <a:solidFill>
                  <a:srgbClr val="FAD878"/>
                </a:solidFill>
                <a:latin typeface="Arial"/>
              </a:rPr>
              <a:t>218 + 32,256 = 32,474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C1E24"/>
                </a:solidFill>
                <a:latin typeface="Arial"/>
              </a:rPr>
              <a:t>Layer 7 - Dense 2 (softmax)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286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542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28, 28, 1)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45589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86903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389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3 @ 5x5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646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24, 24, 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5337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5337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78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76625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0006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493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2750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12, 12, 3)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46373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46373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607661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731105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85969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5 @ 3x3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8537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10, 10, 5)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77409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7409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140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38697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162141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005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9573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5, 5, 5)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8445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8445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469733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59317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4804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Flatten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060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125)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39481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39481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900769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902421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7907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Dense 256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164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256)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70517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70517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32,256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0331805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1045524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381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1011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Dense 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8268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601553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601553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514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77240" y="3063240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97280" y="3264408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OUTPUT SIZE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" y="3630168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2 output nodes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(None, 2)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63640" y="3063240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79" y="326440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TRAINABLE PARMS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83680" y="3630168"/>
            <a:ext cx="45720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(256 + 1) x 2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= 514 parms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77240" y="5596128"/>
            <a:ext cx="10652760" cy="566928"/>
          </a:xfrm>
          <a:prstGeom prst="roundRect">
            <a:avLst>
              <a:gd name="adj" fmla="val 50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57104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A8ABB4"/>
                </a:solidFill>
                <a:latin typeface="Arial"/>
              </a:rPr>
              <a:t>RUNNING TOTAL:  </a:t>
            </a:r>
            <a:r>
              <a:rPr sz="1800" b="1">
                <a:solidFill>
                  <a:srgbClr val="FAD878"/>
                </a:solidFill>
                <a:latin typeface="Arial"/>
              </a:rPr>
              <a:t>32,474 + 514 = 32,988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1E24"/>
                </a:solidFill>
                <a:latin typeface="Arial"/>
              </a:rPr>
              <a:t>The whole chain - check the summary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" y="2103120"/>
            <a:ext cx="1298448" cy="137160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2861" y="2194560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5429" y="248716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28, 28, 1)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45589" y="278892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869033" y="2103120"/>
            <a:ext cx="1298448" cy="137160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3897" y="2194560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3 @ 5x5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6465" y="248716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24, 24, 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5337" y="316382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5337" y="318668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78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76625" y="278892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00069" y="2103120"/>
            <a:ext cx="1298448" cy="137160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4933" y="2194560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27501" y="248716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12, 12, 3)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46373" y="316382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46373" y="318668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607661" y="278892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731105" y="2103120"/>
            <a:ext cx="1298448" cy="137160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85969" y="2194560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5 @ 3x3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8537" y="248716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10, 10, 5)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77409" y="316382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7409" y="318668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140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38697" y="278892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162141" y="2103120"/>
            <a:ext cx="1298448" cy="137160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005" y="2194560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9573" y="248716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5, 5, 5)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8445" y="316382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8445" y="318668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469733" y="278892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593177" y="2103120"/>
            <a:ext cx="1298448" cy="137160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48041" y="2194560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Flatten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0609" y="248716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125)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39481" y="316382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39481" y="318668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900769" y="278892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9024213" y="2103120"/>
            <a:ext cx="1298448" cy="137160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79077" y="2194560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Dense 256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1645" y="248716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256)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70517" y="316382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70517" y="318668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32,256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0331805" y="278892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10455249" y="2103120"/>
            <a:ext cx="1298448" cy="137160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381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10113" y="2194560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Dense 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82681" y="248716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601553" y="316382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601553" y="318668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514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77240" y="3931920"/>
            <a:ext cx="10652760" cy="137160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97280" y="420624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C1E24"/>
                </a:solidFill>
                <a:latin typeface="Arial"/>
              </a:rPr>
              <a:t>TOTAL  =  78 + 140 + 32,256 + 514  =  32,988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C86"/>
                </a:solidFill>
                <a:latin typeface="Arial"/>
              </a:rPr>
              <a:t>exactly what model.summary() prints - run the notebook and check yourself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77840"/>
            <a:ext cx="10652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9A780A"/>
                </a:solidFill>
                <a:latin typeface="Arial"/>
              </a:rPr>
              <a:t>If your chain matches the summary shape-for-shape and parm-for-parm, you own this material.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1E24"/>
                </a:solidFill>
                <a:latin typeface="Arial"/>
              </a:rPr>
              <a:t>Round 2: ugly numbers (no eyeballing!)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29968"/>
            <a:ext cx="2788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1E24"/>
                </a:solidFill>
                <a:latin typeface="Arial"/>
              </a:rPr>
              <a:t>Conv2D 29 @ 5x5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2029968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787C86"/>
                </a:solidFill>
                <a:latin typeface="Arial"/>
              </a:rPr>
              <a:t>(None, 24, 24, 29)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2029968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1C1E24"/>
                </a:solidFill>
                <a:latin typeface="Arial"/>
              </a:rPr>
              <a:t>((5x5x1)+1) x 29  =  754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633472"/>
            <a:ext cx="10652760" cy="0"/>
          </a:xfrm>
          <a:prstGeom prst="line">
            <a:avLst/>
          </a:prstGeom>
          <a:ln w="12700">
            <a:solidFill>
              <a:srgbClr val="E0D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816352"/>
            <a:ext cx="2788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816352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787C86"/>
                </a:solidFill>
                <a:latin typeface="Arial"/>
              </a:rPr>
              <a:t>(None, 12, 12, 29)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2816352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1C1E24"/>
                </a:solidFill>
                <a:latin typeface="Arial"/>
              </a:rPr>
              <a:t>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7240" y="3419856"/>
            <a:ext cx="10652760" cy="0"/>
          </a:xfrm>
          <a:prstGeom prst="line">
            <a:avLst/>
          </a:prstGeom>
          <a:ln w="12700">
            <a:solidFill>
              <a:srgbClr val="E0D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7240" y="3602736"/>
            <a:ext cx="2788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1E24"/>
                </a:solidFill>
                <a:latin typeface="Arial"/>
              </a:rPr>
              <a:t>Conv2D 87 @ 3x3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602736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787C86"/>
                </a:solidFill>
                <a:latin typeface="Arial"/>
              </a:rPr>
              <a:t>(None, 10, 10, 87)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602736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1C1E24"/>
                </a:solidFill>
                <a:latin typeface="Arial"/>
              </a:rPr>
              <a:t>((3x3x29)+1) x 87  =  22,794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7240" y="4206240"/>
            <a:ext cx="10652760" cy="0"/>
          </a:xfrm>
          <a:prstGeom prst="line">
            <a:avLst/>
          </a:prstGeom>
          <a:ln w="12700">
            <a:solidFill>
              <a:srgbClr val="E0D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77240" y="4389120"/>
            <a:ext cx="2788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1E24"/>
                </a:solidFill>
                <a:latin typeface="Arial"/>
              </a:rPr>
              <a:t>MaxPool 2x2 -&gt; Flatten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389120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787C86"/>
                </a:solidFill>
                <a:latin typeface="Arial"/>
              </a:rPr>
              <a:t>(None, 5, 5, 87) -&gt; (None, 2175)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438912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1C1E24"/>
                </a:solidFill>
                <a:latin typeface="Arial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7240" y="4992624"/>
            <a:ext cx="10652760" cy="0"/>
          </a:xfrm>
          <a:prstGeom prst="line">
            <a:avLst/>
          </a:prstGeom>
          <a:ln w="12700">
            <a:solidFill>
              <a:srgbClr val="E0D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77240" y="5175504"/>
            <a:ext cx="2788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1E24"/>
                </a:solidFill>
                <a:latin typeface="Arial"/>
              </a:rPr>
              <a:t>Dense 256 -&gt; Dense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5175504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787C86"/>
                </a:solidFill>
                <a:latin typeface="Arial"/>
              </a:rPr>
              <a:t>(None, 256) -&gt; (None, 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5175504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1C1E24"/>
                </a:solidFill>
                <a:latin typeface="Arial"/>
              </a:rPr>
              <a:t>(2175+1)x256 = 557,056  ·  (256+1)x2 = 514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742432"/>
            <a:ext cx="10652760" cy="50292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833872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81A20"/>
                </a:solidFill>
                <a:latin typeface="Arial"/>
              </a:rPr>
              <a:t>29 maps and 87 filters exist so you CANNOT eyeball it - the formula is the only way through. Try before peeking!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1E24"/>
                </a:solidFill>
                <a:latin typeface="Arial"/>
              </a:rPr>
              <a:t>Round 3: play with channels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5257800" cy="329184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212848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GRAYSCALE (L =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83464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787C86"/>
                </a:solidFill>
                <a:latin typeface="Arial"/>
              </a:rPr>
              <a:t>((5 x 5 x 1) + 1) x 29</a:t>
            </a:r>
          </a:p>
          <a:p>
            <a:pPr algn="l">
              <a:lnSpc>
                <a:spcPct val="110000"/>
              </a:lnSpc>
            </a:pPr>
            <a:r>
              <a:rPr sz="1000" b="0">
                <a:solidFill>
                  <a:srgbClr val="1C1E24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1C1E24"/>
                </a:solidFill>
                <a:latin typeface="Arial"/>
              </a:rPr>
              <a:t>= 754 parms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011680"/>
            <a:ext cx="5166360" cy="329184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79" y="221284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NOW MAKE IT RGB (L =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83464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787C86"/>
                </a:solidFill>
                <a:latin typeface="Arial"/>
              </a:rPr>
              <a:t>((5 x 5 x 3) + 1) x 29</a:t>
            </a:r>
          </a:p>
          <a:p>
            <a:pPr algn="l">
              <a:lnSpc>
                <a:spcPct val="110000"/>
              </a:lnSpc>
            </a:pPr>
            <a:r>
              <a:rPr sz="1000" b="0">
                <a:solidFill>
                  <a:srgbClr val="1C1E24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1C1E24"/>
                </a:solidFill>
                <a:latin typeface="Arial"/>
              </a:rPr>
              <a:t>= 2,204 parms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577840"/>
            <a:ext cx="10652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9A780A"/>
                </a:solidFill>
                <a:latin typeface="Arial"/>
              </a:rPr>
              <a:t>PREDICT before you run the cell. 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1C1E24"/>
                </a:solidFill>
                <a:latin typeface="Arial"/>
              </a:rPr>
              <a:t>Then grab the cheat sheet and do one full chain by hand - that is the whole assignment-prep loop.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1E24"/>
                </a:solidFill>
                <a:latin typeface="Arial"/>
              </a:rPr>
              <a:t>Your toolkit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3383280" cy="30175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0428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THE NOTEBOOK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83464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C1E24"/>
                </a:solidFill>
                <a:latin typeface="Arial"/>
              </a:rPr>
              <a:t>Simple_Size_and_Param.ipynb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787C86"/>
                </a:solidFill>
                <a:latin typeface="Arial"/>
              </a:rPr>
              <a:t>both models pre-built: run, then rebuild by hand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103120"/>
            <a:ext cx="3383280" cy="30175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230428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THE CHEAT SHEET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283464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C1E24"/>
                </a:solidFill>
                <a:latin typeface="Arial"/>
              </a:rPr>
              <a:t>ConvNet Math Cheat Sheet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3794760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787C86"/>
                </a:solidFill>
                <a:latin typeface="Arial"/>
              </a:rPr>
              <a:t>every formula + a worked answer table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2103120"/>
            <a:ext cx="3383280" cy="30175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30428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THE PLAYGROUND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83464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C1E24"/>
                </a:solidFill>
                <a:latin typeface="Arial"/>
              </a:rPr>
              <a:t>setosa.io/ev/image-kernels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794760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787C86"/>
                </a:solidFill>
                <a:latin typeface="Arial"/>
              </a:rPr>
              <a:t>drag kernel values, watch the image respond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486400"/>
            <a:ext cx="10652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787C86"/>
                </a:solidFill>
                <a:latin typeface="Arial"/>
              </a:rPr>
              <a:t>All three are linked on the HuskyCT M3.1 page.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377440"/>
            <a:ext cx="1280160" cy="6400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B705"/>
                </a:solidFill>
                <a:latin typeface="Arial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5F5F7"/>
                </a:solidFill>
                <a:latin typeface="Arial"/>
              </a:rPr>
              <a:t>Kernels in action: the gallery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0690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A8ABB4"/>
                </a:solidFill>
                <a:latin typeface="Arial"/>
              </a:rPr>
              <a:t>Screenshots from setosa.io/ev/image-kernels: the same face through different kernels - watch the dot product panel build each output pixel.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17_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609" y="228600"/>
            <a:ext cx="9034300" cy="6309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18_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0186" y="228600"/>
            <a:ext cx="9041147" cy="6309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19_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9301" y="228600"/>
            <a:ext cx="9222917" cy="6309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20_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9659" y="228600"/>
            <a:ext cx="9122201" cy="6309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21_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3570" y="228600"/>
            <a:ext cx="8894378" cy="6309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22_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074" y="228599"/>
            <a:ext cx="9013371" cy="6309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23_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1506" y="228600"/>
            <a:ext cx="9378506" cy="6309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24_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3847" y="228600"/>
            <a:ext cx="9213824" cy="6309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25_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184" y="228600"/>
            <a:ext cx="9383150" cy="6309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1E24"/>
                </a:solidFill>
                <a:latin typeface="Arial"/>
              </a:rPr>
              <a:t>Good links (great reading, too)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176272"/>
            <a:ext cx="128016" cy="128016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75688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1E24"/>
                </a:solidFill>
                <a:latin typeface="Arial"/>
              </a:rPr>
              <a:t>Visualizing ConvNets with Keras and cats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32303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hackernoon.com/visualizing-parts-of-convolutional-neural-networks-using-keras-and-cats-5cc01b214e59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953512"/>
            <a:ext cx="128016" cy="128016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852928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1E24"/>
                </a:solidFill>
                <a:latin typeface="Arial"/>
              </a:rPr>
              <a:t>Image kernels, explained visually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209544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setosa.io/ev/image-kernels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730752"/>
            <a:ext cx="128016" cy="128016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630168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1E24"/>
                </a:solidFill>
                <a:latin typeface="Arial"/>
              </a:rPr>
              <a:t>Easy-peasy 2D convolution (with video)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986784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ricardodeazambuja.com - easy-peasy_conv_deep_learning_two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4507992"/>
            <a:ext cx="128016" cy="128016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407407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1E24"/>
                </a:solidFill>
                <a:latin typeface="Arial"/>
              </a:rPr>
              <a:t>Stanford CS231n ConvNet notes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764024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cs231n.github.io/convolutional-networks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5285231"/>
            <a:ext cx="128016" cy="128016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184647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1E24"/>
                </a:solidFill>
                <a:latin typeface="Arial"/>
              </a:rPr>
              <a:t>The StackOverflow param-counting classic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5541264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stackoverflow.com/questions/42786717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