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Videos 4-6 of M3.1: Size &amp; Trainable Parameters Pt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&lt;-&gt; summary in both directions. NOTE: the second conv now makes FIVE maps - 3 in, 5 out, so nobody can confuse the two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hook: 407K vs 33K.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letters as the cheat sheet and the notebook. Drill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 1 anchor slide. Everything after is these two lines applied eight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recall, then we start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grayscale channel. Batch prints as None - decided at fit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conv: L=1 (grayscale). 25 weights + 1 bias per filter, 3 filters. Output channels = F 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2x2 kernel, stride 2, no overlap: halves it. Same 3 maps, just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TRAP SLIDE. L=3 because pooling handed us 3 maps; F=5 because WE asked for 5. Each filter is a 3x3x3 brick (27 weights + 1 bias = 28), x5 filters = 140. Three in, five out - the two numbers do different jobs!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Halve it again. Dense 5x5x5 nuggets of information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Unroll the maps into one row of 125 numbers - like the first row of a dataframe. Ready for dense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formula, unchanged. This is where most of the parms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Binary classification, softmax over 2 nodes. Regression would be 1 node,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 1 ends here. The chain IS the cheat-sheet answer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 2: model 2 in the notebook. The calculator cell proves 22,794.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 3: change channels 1-&gt;3 in input_shape. Only the FIRST conv layer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recorded portion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to record - flip through a couple of kernels and connect back to the setosa demo from video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verified alive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708392" y="1752599"/>
            <a:ext cx="1388059" cy="4191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08392" y="2171700"/>
            <a:ext cx="1388059" cy="419099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08392" y="2171700"/>
            <a:ext cx="1388059" cy="12573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08392" y="2171700"/>
            <a:ext cx="1388059" cy="2095499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08392" y="2171700"/>
            <a:ext cx="1388059" cy="29337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708392" y="1752599"/>
            <a:ext cx="1388059" cy="16764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708392" y="2590799"/>
            <a:ext cx="1388059" cy="8382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08392" y="3429000"/>
            <a:ext cx="1388059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08392" y="3429000"/>
            <a:ext cx="1388059" cy="838199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08392" y="3429000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708392" y="1752599"/>
            <a:ext cx="1388059" cy="29337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08392" y="2590799"/>
            <a:ext cx="1388059" cy="20955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08392" y="3429000"/>
            <a:ext cx="1388059" cy="12573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08392" y="4267199"/>
            <a:ext cx="1388059" cy="4191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08392" y="4686300"/>
            <a:ext cx="1388059" cy="4191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96451" y="1752599"/>
            <a:ext cx="1388059" cy="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96451" y="1752599"/>
            <a:ext cx="1388059" cy="8382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96451" y="1752599"/>
            <a:ext cx="1388059" cy="16764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96451" y="1752599"/>
            <a:ext cx="1388059" cy="25146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96451" y="1752599"/>
            <a:ext cx="1388059" cy="33528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096451" y="1752599"/>
            <a:ext cx="1388059" cy="8382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96451" y="2590799"/>
            <a:ext cx="1388059" cy="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96451" y="2590799"/>
            <a:ext cx="1388059" cy="8382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96451" y="2590799"/>
            <a:ext cx="1388059" cy="16764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96451" y="2590799"/>
            <a:ext cx="1388059" cy="25146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096451" y="1752599"/>
            <a:ext cx="1388059" cy="16764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096451" y="2590799"/>
            <a:ext cx="1388059" cy="8382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96451" y="3429000"/>
            <a:ext cx="1388059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96451" y="3429000"/>
            <a:ext cx="1388059" cy="838199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96451" y="3429000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096451" y="1752599"/>
            <a:ext cx="1388059" cy="25146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096451" y="2590799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096451" y="3429000"/>
            <a:ext cx="1388059" cy="838199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96451" y="4267199"/>
            <a:ext cx="1388059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96451" y="4267199"/>
            <a:ext cx="1388059" cy="8382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096451" y="1752599"/>
            <a:ext cx="1388059" cy="33528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096451" y="2590799"/>
            <a:ext cx="1388059" cy="25146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096451" y="3429000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096451" y="4267199"/>
            <a:ext cx="1388059" cy="8382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96451" y="5105400"/>
            <a:ext cx="1388059" cy="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484510" y="1752599"/>
            <a:ext cx="1135685" cy="16764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84510" y="2590799"/>
            <a:ext cx="1135685" cy="8382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484510" y="3429000"/>
            <a:ext cx="1135685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484510" y="3429000"/>
            <a:ext cx="1135685" cy="838199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484510" y="3429000"/>
            <a:ext cx="1135685" cy="16764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589519" y="20528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89519" y="33101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89519" y="45674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77579" y="16337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77579" y="24719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977579" y="33101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977579" y="4148327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77579" y="49865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65638" y="16337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365638" y="24719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65638" y="33101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65638" y="4148327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65638" y="49865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419027" y="3227832"/>
            <a:ext cx="402336" cy="40233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1828800"/>
            <a:ext cx="1280160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20574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B705"/>
                </a:solidFill>
                <a:latin typeface="Arial"/>
              </a:rPr>
              <a:t>OPIM 5509  -  MODULE 3.1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2514600"/>
            <a:ext cx="6949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5F5F7"/>
                </a:solidFill>
                <a:latin typeface="Arial"/>
              </a:rPr>
              <a:t>Math for a</a:t>
            </a:r>
          </a:p>
          <a:p>
            <a:pPr algn="l"/>
            <a:r>
              <a:rPr sz="5400" b="1">
                <a:solidFill>
                  <a:srgbClr val="F5F5F7"/>
                </a:solidFill>
                <a:latin typeface="Arial"/>
              </a:rPr>
              <a:t>Simple ConvNet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466344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A8ABB4"/>
                </a:solidFill>
                <a:latin typeface="Arial"/>
              </a:rPr>
              <a:t>Rebuild model.summary() by hand  -  pairs with Simple_Size_and_Param.ipynb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The 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94960" cy="3977639"/>
          </a:xfrm>
          <a:prstGeom prst="roundRect">
            <a:avLst>
              <a:gd name="adj" fmla="val 4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AD878"/>
                </a:solidFill>
                <a:latin typeface="Arial"/>
              </a:rPr>
              <a:t>THE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from tensorflow.keras import layers,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42616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89504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model = models.Sequential()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36392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AD878"/>
                </a:solidFill>
                <a:latin typeface="Consolas"/>
              </a:rPr>
              <a:t>model.add(layers.Conv2D(3, (5, 5), activation='relu',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83280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AD878"/>
                </a:solidFill>
                <a:latin typeface="Consolas"/>
              </a:rPr>
              <a:t>                        input_shape=(28, 28, 1)))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30168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model.add(layers.MaxPooling2D((2, 2)))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77056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AD878"/>
                </a:solidFill>
                <a:latin typeface="Consolas"/>
              </a:rPr>
              <a:t>model.add(layers.Conv2D(5, (3, 3), activation='relu'))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23944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model.add(layers.MaxPooling2D((2, 2)))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70832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model.add(layers.Flatten())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AD878"/>
                </a:solidFill>
                <a:latin typeface="Consolas"/>
              </a:rPr>
              <a:t>model.add(layers.Dense(256, activation='relu'))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64608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AD878"/>
                </a:solidFill>
                <a:latin typeface="Consolas"/>
              </a:rPr>
              <a:t>model.add(layers.Dense(2, activation='softmax'))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11496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58384"/>
            <a:ext cx="5029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DAE2"/>
                </a:solidFill>
                <a:latin typeface="Consolas"/>
              </a:rPr>
              <a:t>model.summary()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874519"/>
            <a:ext cx="5029200" cy="3977639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0756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WHAT MODEL.SUMMARY() WILL 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3957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E24"/>
                </a:solidFill>
                <a:latin typeface="Consolas"/>
              </a:rPr>
              <a:t>conv2d (Conv2D)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39572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Consolas"/>
              </a:rPr>
              <a:t>(None, 24, 24, 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239572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8C6908"/>
                </a:solidFill>
                <a:latin typeface="Consolas"/>
              </a:rPr>
              <a:t>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77977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E24"/>
                </a:solidFill>
                <a:latin typeface="Consolas"/>
              </a:rPr>
              <a:t>max_pooling2d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779776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Consolas"/>
              </a:rPr>
              <a:t>(None, 12, 12,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2779776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787C86"/>
                </a:solidFill>
                <a:latin typeface="Consolas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16382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E24"/>
                </a:solidFill>
                <a:latin typeface="Consolas"/>
              </a:rPr>
              <a:t>conv2d_1 (Conv2D)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163824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Consolas"/>
              </a:rPr>
              <a:t>(None, 10, 10, 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3163824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8C6908"/>
                </a:solidFill>
                <a:latin typeface="Consolas"/>
              </a:rPr>
              <a:t>140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54787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E24"/>
                </a:solidFill>
                <a:latin typeface="Consolas"/>
              </a:rPr>
              <a:t>max_pooling2d_1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54787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Consolas"/>
              </a:rPr>
              <a:t>(None, 5, 5, 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354787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787C86"/>
                </a:solidFill>
                <a:latin typeface="Consola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9319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E24"/>
                </a:solidFill>
                <a:latin typeface="Consolas"/>
              </a:rPr>
              <a:t>flatten (Flatten)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9319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Consolas"/>
              </a:rPr>
              <a:t>(None, 125)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39319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787C86"/>
                </a:solidFill>
                <a:latin typeface="Consola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3159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E24"/>
                </a:solidFill>
                <a:latin typeface="Consolas"/>
              </a:rPr>
              <a:t>dense (Dense)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3159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Consolas"/>
              </a:rPr>
              <a:t>(None, 256)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431596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8C6908"/>
                </a:solidFill>
                <a:latin typeface="Consolas"/>
              </a:rPr>
              <a:t>32,256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70001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E24"/>
                </a:solidFill>
                <a:latin typeface="Consolas"/>
              </a:rPr>
              <a:t>dense_1 (Dense)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4700016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Consolas"/>
              </a:rPr>
              <a:t>(None,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4700016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8C6908"/>
                </a:solidFill>
                <a:latin typeface="Consolas"/>
              </a:rPr>
              <a:t>514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20840" y="5138928"/>
            <a:ext cx="4572000" cy="0"/>
          </a:xfrm>
          <a:prstGeom prst="line">
            <a:avLst/>
          </a:prstGeom>
          <a:ln w="1905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20840" y="52486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E24"/>
                </a:solidFill>
                <a:latin typeface="Consolas"/>
              </a:rPr>
              <a:t>Total params: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230368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1C1E24"/>
                </a:solidFill>
                <a:latin typeface="Consolas"/>
              </a:rPr>
              <a:t>32,988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53328"/>
            <a:ext cx="10652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E24"/>
                </a:solidFill>
                <a:latin typeface="Arial"/>
              </a:rPr>
              <a:t>Given the code, produce the summary by hand - every shape, every count. </a:t>
            </a:r>
            <a:r>
              <a:rPr sz="1500" b="1">
                <a:solidFill>
                  <a:srgbClr val="9A780A"/>
                </a:solidFill>
                <a:latin typeface="Arial"/>
              </a:rPr>
              <a:t>That is mastery. That is also the exam.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Why ConvNets? Look at the parms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C6908"/>
                </a:solidFill>
                <a:latin typeface="Arial"/>
              </a:rPr>
              <a:t>YOUR M2 MNIST DENSE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787C86"/>
                </a:solidFill>
                <a:latin typeface="Arial"/>
              </a:rPr>
              <a:t>~407,000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87C86"/>
                </a:solidFill>
                <a:latin typeface="Arial"/>
              </a:rPr>
              <a:t>parameters - and it falls apart if the digit moves off-center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166360" cy="310896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C6908"/>
                </a:solidFill>
                <a:latin typeface="Arial"/>
              </a:rPr>
              <a:t>TODAY'S CONVNET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C1E24"/>
                </a:solidFill>
                <a:latin typeface="Arial"/>
              </a:rPr>
              <a:t>32,988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690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E24"/>
                </a:solidFill>
                <a:latin typeface="Arial"/>
              </a:rPr>
              <a:t>parameters - 12x fewer, and it handles shifted/rotated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10652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9A780A"/>
                </a:solidFill>
                <a:latin typeface="Arial"/>
              </a:rPr>
              <a:t>Fewer parameters, better behavior. The rest of this deck shows exactly where 32,988 comes from.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The cast of characters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554480" cy="640080"/>
          </a:xfrm>
          <a:prstGeom prst="roundRect">
            <a:avLst>
              <a:gd name="adj" fmla="val 25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D878"/>
                </a:solidFill>
                <a:latin typeface="Arial"/>
              </a:rPr>
              <a:t>M,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139696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filter size (e.g. a 5 x 5 kernel)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98064"/>
            <a:ext cx="1554480" cy="640080"/>
          </a:xfrm>
          <a:prstGeom prst="roundRect">
            <a:avLst>
              <a:gd name="adj" fmla="val 25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1693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D878"/>
                </a:solidFill>
                <a:latin typeface="Arial"/>
              </a:rP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2608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channels coming INTO this layer - image: 1 BW / 3 RGB; deeper: the previous layer's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84448"/>
            <a:ext cx="1554480" cy="640080"/>
          </a:xfrm>
          <a:prstGeom prst="roundRect">
            <a:avLst>
              <a:gd name="adj" fmla="val 25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D878"/>
                </a:solidFill>
                <a:latin typeface="Arial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712463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bias - always 1 PER 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70832"/>
            <a:ext cx="1554480" cy="640080"/>
          </a:xfrm>
          <a:prstGeom prst="roundRect">
            <a:avLst>
              <a:gd name="adj" fmla="val 25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970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D878"/>
                </a:solidFill>
                <a:latin typeface="Arial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9884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feature maps this layer creates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57216"/>
            <a:ext cx="1554480" cy="640080"/>
          </a:xfrm>
          <a:prstGeom prst="roundRect">
            <a:avLst>
              <a:gd name="adj" fmla="val 25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7608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D878"/>
                </a:solidFill>
                <a:latin typeface="Arial"/>
              </a:rPr>
              <a:t>Stride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85232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always 1 in our conv layers (so it never appears in the formulas)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5742432"/>
            <a:ext cx="8778240" cy="50292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833872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A20"/>
                </a:solidFill>
                <a:latin typeface="Arial"/>
              </a:rPr>
              <a:t>The L is the trap: from layer 2 on, L = the previous layer's F. Not RGB!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Only two formulas to rule them 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52760" cy="160020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67128"/>
            <a:ext cx="10012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 (CONV, NO PADDING)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C1E24"/>
                </a:solidFill>
                <a:latin typeface="Arial"/>
              </a:rPr>
              <a:t>new size = old size - (M - 1)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787C86"/>
                </a:solidFill>
                <a:latin typeface="Arial"/>
              </a:rPr>
              <a:t>shapes print as (BATCH, ROWS, COLS, CHANNELS) - batch is None until you fit; channels = that layer's 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60"/>
            <a:ext cx="10652760" cy="160020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95928"/>
            <a:ext cx="10012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1C1E24"/>
                </a:solidFill>
                <a:latin typeface="Arial"/>
              </a:rPr>
              <a:t>Conv2D: ((M x N x L) + B) x F      Dense: (n + 1) x m      Pool/Flatten: 0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787C86"/>
                </a:solidFill>
                <a:latin typeface="Arial"/>
              </a:rPr>
              <a:t>pooling is naive - just max values, nothing to learn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32120"/>
            <a:ext cx="10652760" cy="658368"/>
          </a:xfrm>
          <a:prstGeom prst="roundRect">
            <a:avLst>
              <a:gd name="adj" fmla="val 3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6144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878"/>
                </a:solidFill>
                <a:latin typeface="Arial"/>
              </a:rPr>
              <a:t>WORKED:  </a:t>
            </a:r>
            <a:r>
              <a:rPr sz="1500" b="0">
                <a:solidFill>
                  <a:srgbClr val="D2D4DC"/>
                </a:solidFill>
                <a:latin typeface="Arial"/>
              </a:rPr>
              <a:t>28x28 image, 5x5 kernel, F=3  -&gt;  size: 28 - (5-1) = 24, so (None,28,28,1) becomes (None,24,24,3)  ·  parms: ((5x5x1)+1)x3 = 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897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D878"/>
                </a:solidFill>
                <a:latin typeface="Arial"/>
              </a:rPr>
              <a:t>"Size" = the rows/cols of the map. That little shrink IS the light downsampling. (Pooling does the aggressive kind: 24 / 2 = 12.)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Reminder: what Conv2D is doing</a:t>
            </a:r>
          </a:p>
        </p:txBody>
      </p:sp>
      <p:pic>
        <p:nvPicPr>
          <p:cNvPr id="6" name="Picture 5" descr="s0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30" y="1920240"/>
            <a:ext cx="9927058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Sliding kernel, stride 1, lots of overlap - the map shrinks a little. Light downsampling.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Start here: the input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24, 24, 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MaxPool 2x2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12, 12, 3)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Conv2D 5 @ 3x3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10, 10, 5)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MaxPool 2x2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5, 5, 5)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Flatten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125)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256)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Given in the code: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input_shape = (28, 28, 1)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(None, 28, 28, 1)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Nothing to learn yet...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0 parms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Layer 1 - Conv2D: 3 maps @ 5x5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12, 12, 3)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Conv2D 5 @ 3x3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10, 10, 5)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MaxPool 2x2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5, 5, 5)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Flatten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125)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256)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28 - (5 - 1)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24   -&gt;   (None, 24, 24, 3)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((5 x 5 x 1) + 1) x 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78 parms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78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Layer 2 - MaxPooling 2x2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12, 12,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6373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6373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Conv2D 5 @ 3x3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10, 10, 5)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MaxPool 2x2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5, 5, 5)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Flatten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125)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256)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24 / 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12   -&gt;   (None, 12, 12, 3)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Nothing is learned - naive max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0 parms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Layer 3 - Conv2D: 5 maps @ 3x3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12, 12,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6373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6373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5 @ 3x3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10, 10, 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7409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7409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MaxPool 2x2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5, 5, 5)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Flatten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125)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256)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12 - (3 - 1)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10   -&gt;   (None, 10, 10, 5)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((3 x 3 x 3) + 1) x 5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140 parms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78 + 140 = 218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2395728"/>
            <a:ext cx="5166360" cy="51206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4871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A20"/>
                </a:solidFill>
                <a:latin typeface="Arial"/>
              </a:rPr>
              <a:t>CAREFUL: L = 3 (maps coming IN), F = 5 (maps we MAKE)!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Layer 4 - MaxPooling 2x2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12, 12,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6373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6373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5 @ 3x3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10, 10, 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7409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7409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5, 5, 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8445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8445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Flatten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125)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256)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10 / 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5   -&gt;   (None, 5, 5, 5)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Still nothing to learn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0 parms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218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Layer 5 - Flatten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12, 12,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6373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6373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5 @ 3x3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10, 10, 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7409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7409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5, 5, 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8445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8445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Flatten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125)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9481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9481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256)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5 x 5 x 5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125   -&gt;   (None, 125)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Just reshaping - no weights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0 parms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218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Layer 6 - Dense 256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12, 12,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6373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6373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5 @ 3x3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10, 10, 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7409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7409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5, 5, 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8445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8445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Flatten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125)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9481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9481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Dense 256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256)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7051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051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32,256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C8C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EDEBE4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B2AA"/>
                </a:solidFill>
                <a:latin typeface="Arial"/>
              </a:rPr>
              <a:t>Dense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4B2AA"/>
                </a:solidFill>
                <a:latin typeface="Arial"/>
              </a:rPr>
              <a:t>(None, 2)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256 hidden units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(None, 256)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(125 + 1) x 256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32,256 parms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218 + 32,256 = 32,474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C1E24"/>
                </a:solidFill>
                <a:latin typeface="Arial"/>
              </a:rPr>
              <a:t>Layer 7 - Dense 2 (softmax)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12, 12,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6373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6373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7661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31105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969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5 @ 3x3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8537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10, 10, 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7409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7409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8697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62141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005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573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5, 5, 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8445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8445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69733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93177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8041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Flatten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609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125)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9481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9481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00769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24213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077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Dense 256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1645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256)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70517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0517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32,256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31805" y="226314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455249" y="1783080"/>
            <a:ext cx="1298448" cy="96012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0113" y="1874519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Dense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2681" y="21671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01553" y="243230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01553" y="245516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514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306324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7280" y="32644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SIZE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363016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2 output nodes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(None, 2)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306324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79" y="326440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TRAINABLE PARMS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363016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>(256 + 1) x 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787C86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C1E24"/>
                </a:solidFill>
                <a:latin typeface="Arial"/>
              </a:rPr>
              <a:t>= 514 parms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" y="5596128"/>
            <a:ext cx="10652760" cy="566928"/>
          </a:xfrm>
          <a:prstGeom prst="roundRect">
            <a:avLst>
              <a:gd name="adj" fmla="val 50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57104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8ABB4"/>
                </a:solidFill>
                <a:latin typeface="Arial"/>
              </a:rPr>
              <a:t>RUNNING TOTAL:  </a:t>
            </a:r>
            <a:r>
              <a:rPr sz="1800" b="1">
                <a:solidFill>
                  <a:srgbClr val="FAD878"/>
                </a:solidFill>
                <a:latin typeface="Arial"/>
              </a:rPr>
              <a:t>32,474 + 514 = 32,988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The whole chain - check the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861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9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28, 28, 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5589" y="278892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69033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3897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3 @ 5x5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465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24, 24,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316382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5337" y="318668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6625" y="278892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069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4933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501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12, 12,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6373" y="316382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6373" y="318668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7661" y="278892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31105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969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Conv2D 5 @ 3x3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8537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10, 10, 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7409" y="316382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7409" y="318668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8697" y="278892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62141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005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573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5, 5, 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8445" y="316382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8445" y="318668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69733" y="278892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93177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C8C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8041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Flatten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609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125)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9481" y="316382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E1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9481" y="318668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87C86"/>
                </a:solidFill>
                <a:latin typeface="Arial"/>
              </a:rPr>
              <a:t>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00769" y="278892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24213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19050">
            <a:solidFill>
              <a:srgbClr val="8C6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077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Dense 256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1645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256)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70517" y="316382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0517" y="318668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32,256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31805" y="2788920"/>
            <a:ext cx="114300" cy="0"/>
          </a:xfrm>
          <a:prstGeom prst="line">
            <a:avLst/>
          </a:prstGeom>
          <a:ln w="2794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455249" y="2103120"/>
            <a:ext cx="1298448" cy="1371600"/>
          </a:xfrm>
          <a:prstGeom prst="roundRect">
            <a:avLst>
              <a:gd name="adj" fmla="val 14000"/>
            </a:avLst>
          </a:prstGeom>
          <a:solidFill>
            <a:srgbClr val="FCFCFA"/>
          </a:solidFill>
          <a:ln w="381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0113" y="2194560"/>
            <a:ext cx="11887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1E24"/>
                </a:solidFill>
                <a:latin typeface="Arial"/>
              </a:rPr>
              <a:t>Dense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2681" y="248716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787C86"/>
                </a:solidFill>
                <a:latin typeface="Arial"/>
              </a:rPr>
              <a:t>(None, 2)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01553" y="3163824"/>
            <a:ext cx="1005839" cy="23774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01553" y="318668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81A20"/>
                </a:solidFill>
                <a:latin typeface="Arial"/>
              </a:rPr>
              <a:t>514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3931920"/>
            <a:ext cx="10652760" cy="137160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7280" y="42062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C1E24"/>
                </a:solidFill>
                <a:latin typeface="Arial"/>
              </a:rPr>
              <a:t>TOTAL  =  78 + 140 + 32,256 + 514  =  32,988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787C86"/>
                </a:solidFill>
                <a:latin typeface="Arial"/>
              </a:rPr>
              <a:t>exactly what model.summary() prints - run the notebook and check yourself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577840"/>
            <a:ext cx="1065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9A780A"/>
                </a:solidFill>
                <a:latin typeface="Arial"/>
              </a:rPr>
              <a:t>If your chain matches the summary shape-for-shape and parm-for-parm, you own this material.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Round 2: ugly numbers (no eyeballing!)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E24"/>
                </a:solidFill>
                <a:latin typeface="Arial"/>
              </a:rPr>
              <a:t>Conv2D 29 @ 5x5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29968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7C86"/>
                </a:solidFill>
                <a:latin typeface="Arial"/>
              </a:rPr>
              <a:t>(None, 24, 24, 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029968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C1E24"/>
                </a:solidFill>
                <a:latin typeface="Arial"/>
              </a:rPr>
              <a:t>((5x5x1)+1) x 29  =  754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633472"/>
            <a:ext cx="10652760" cy="0"/>
          </a:xfrm>
          <a:prstGeom prst="line">
            <a:avLst/>
          </a:prstGeom>
          <a:ln w="12700">
            <a:solidFill>
              <a:srgbClr val="E0D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816352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E24"/>
                </a:solidFill>
                <a:latin typeface="Arial"/>
              </a:rPr>
              <a:t>MaxPool 2x2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16352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7C86"/>
                </a:solidFill>
                <a:latin typeface="Arial"/>
              </a:rPr>
              <a:t>(None, 12, 12, 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816352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C1E24"/>
                </a:solidFill>
                <a:latin typeface="Arial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419856"/>
            <a:ext cx="10652760" cy="0"/>
          </a:xfrm>
          <a:prstGeom prst="line">
            <a:avLst/>
          </a:prstGeom>
          <a:ln w="12700">
            <a:solidFill>
              <a:srgbClr val="E0D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602736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E24"/>
                </a:solidFill>
                <a:latin typeface="Arial"/>
              </a:rPr>
              <a:t>Conv2D 87 @ 3x3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0273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7C86"/>
                </a:solidFill>
                <a:latin typeface="Arial"/>
              </a:rPr>
              <a:t>(None, 10, 10, 87)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602736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C1E24"/>
                </a:solidFill>
                <a:latin typeface="Arial"/>
              </a:rPr>
              <a:t>((3x3x29)+1) x 87  =  22,794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4206240"/>
            <a:ext cx="10652760" cy="0"/>
          </a:xfrm>
          <a:prstGeom prst="line">
            <a:avLst/>
          </a:prstGeom>
          <a:ln w="12700">
            <a:solidFill>
              <a:srgbClr val="E0D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438912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E24"/>
                </a:solidFill>
                <a:latin typeface="Arial"/>
              </a:rPr>
              <a:t>MaxPool 2x2 -&gt; Flatten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3891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7C86"/>
                </a:solidFill>
                <a:latin typeface="Arial"/>
              </a:rPr>
              <a:t>(None, 5, 5, 87) -&gt; (None, 2175)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38912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C1E24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992624"/>
            <a:ext cx="10652760" cy="0"/>
          </a:xfrm>
          <a:prstGeom prst="line">
            <a:avLst/>
          </a:prstGeom>
          <a:ln w="12700">
            <a:solidFill>
              <a:srgbClr val="E0D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17550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E24"/>
                </a:solidFill>
                <a:latin typeface="Arial"/>
              </a:rPr>
              <a:t>Dense 256 -&gt; Dense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17550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787C86"/>
                </a:solidFill>
                <a:latin typeface="Arial"/>
              </a:rPr>
              <a:t>(None, 256) -&gt; (None,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175504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C1E24"/>
                </a:solidFill>
                <a:latin typeface="Arial"/>
              </a:rPr>
              <a:t>(2175+1)x256 = 557,056  ·  (256+1)x2 = 514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742432"/>
            <a:ext cx="10652760" cy="50292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83387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A20"/>
                </a:solidFill>
                <a:latin typeface="Arial"/>
              </a:rPr>
              <a:t>29 maps and 87 filters exist so you CANNOT eyeball it - the formula is the only way through. Try before peeking!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Round 3: play with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1284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GRAYSCALE (L =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787C86"/>
                </a:solidFill>
                <a:latin typeface="Arial"/>
              </a:rPr>
              <a:t>((5 x 5 x 1) + 1) x 29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E24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1C1E24"/>
                </a:solidFill>
                <a:latin typeface="Arial"/>
              </a:rPr>
              <a:t>= 754 parms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166360" cy="329184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21284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NOW MAKE IT RGB (L =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787C86"/>
                </a:solidFill>
                <a:latin typeface="Arial"/>
              </a:rPr>
              <a:t>((5 x 5 x 3) + 1) x 29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E24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1C1E24"/>
                </a:solidFill>
                <a:latin typeface="Arial"/>
              </a:rPr>
              <a:t>= 2,204 parms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52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9A780A"/>
                </a:solidFill>
                <a:latin typeface="Arial"/>
              </a:rPr>
              <a:t>PREDICT before you run the cell. 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C1E24"/>
                </a:solidFill>
                <a:latin typeface="Arial"/>
              </a:rPr>
              <a:t>Then grab the cheat sheet and do one full chain by hand - that is the whole assignment-prep loop.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3.1 - SIZE &amp; TRAINABLE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Your toolkit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042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THE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1E24"/>
                </a:solidFill>
                <a:latin typeface="Arial"/>
              </a:rPr>
              <a:t>Simple_Size_and_Param.ipynb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both models pre-built: run, then rebuild by hand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3042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THE CHEAT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8346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1E24"/>
                </a:solidFill>
                <a:latin typeface="Arial"/>
              </a:rPr>
              <a:t>ConvNet Math Cheat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7947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every formula + a worked answer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10312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042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THE PLAYGROUND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346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1E24"/>
                </a:solidFill>
                <a:latin typeface="Arial"/>
              </a:rPr>
              <a:t>setosa.io/ev/image-kernels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947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drag kernel values, watch the image 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10652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87C86"/>
                </a:solidFill>
                <a:latin typeface="Arial"/>
              </a:rPr>
              <a:t>All three are linked on the HuskyCT M3.1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77440"/>
            <a:ext cx="1280160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B705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Arial"/>
              </a:rPr>
              <a:t>Kernels in action: the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8ABB4"/>
                </a:solidFill>
                <a:latin typeface="Arial"/>
              </a:rPr>
              <a:t>Screenshots from setosa.io/ev/image-kernels: the same face through different kernels - watch the dot product panel build each output pixel.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1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09" y="228600"/>
            <a:ext cx="9034300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1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86" y="228600"/>
            <a:ext cx="9041147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1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301" y="228600"/>
            <a:ext cx="9222917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2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659" y="228600"/>
            <a:ext cx="9122201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2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70" y="228600"/>
            <a:ext cx="8894378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2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074" y="228599"/>
            <a:ext cx="9013371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2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506" y="228600"/>
            <a:ext cx="9378506" cy="63093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2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47" y="228600"/>
            <a:ext cx="9213824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25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84" y="228600"/>
            <a:ext cx="9383150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Good links (great reading, too)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76272"/>
            <a:ext cx="128016" cy="12801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Visualizing ConvNets with Keras and cats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32303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hackernoon.com/visualizing-parts-of-convolutional-neural-networks-using-keras-and-cats-5cc01b214e59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53512"/>
            <a:ext cx="128016" cy="12801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5292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Image kernels, explained visually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954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setosa.io/ev/image-kernels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30752"/>
            <a:ext cx="128016" cy="12801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3016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Easy-peasy 2D convolution (with video)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8678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ricardodeazambuja.com - easy-peasy_conv_deep_learning_two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07992"/>
            <a:ext cx="128016" cy="12801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07407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Stanford CS231n ConvNet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640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cs231n.github.io/convolutional-networks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285231"/>
            <a:ext cx="128016" cy="12801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84647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The StackOverflow param-counting classic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4126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stackoverflow.com/questions/42786717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