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11" Type="http://schemas.openxmlformats.org/officeDocument/2006/relationships/slide" Target="slides/slide7.xml"/><Relationship Id="rId33" Type="http://schemas.openxmlformats.org/officeDocument/2006/relationships/slide" Target="slides/slide29.xml"/><Relationship Id="rId10" Type="http://schemas.openxmlformats.org/officeDocument/2006/relationships/slide" Target="slides/slide6.xml"/><Relationship Id="rId32" Type="http://schemas.openxmlformats.org/officeDocument/2006/relationships/slide" Target="slides/slide28.xml"/><Relationship Id="rId13" Type="http://schemas.openxmlformats.org/officeDocument/2006/relationships/slide" Target="slides/slide9.xml"/><Relationship Id="rId35" Type="http://schemas.openxmlformats.org/officeDocument/2006/relationships/slide" Target="slides/slide31.xml"/><Relationship Id="rId12" Type="http://schemas.openxmlformats.org/officeDocument/2006/relationships/slide" Target="slides/slide8.xml"/><Relationship Id="rId34" Type="http://schemas.openxmlformats.org/officeDocument/2006/relationships/slide" Target="slides/slide30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7" name="Google Shape;377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2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2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2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2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3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5" name="Google Shape;425;p3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9" name="Google Shape;29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35" name="Google Shape;35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" name="Google Shape;49;p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stackoverflow.com/questions/42786717/how-to-calculate-the-number-of-parameters-for-convolutional-neural-network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9" Type="http://schemas.openxmlformats.org/officeDocument/2006/relationships/image" Target="../media/image17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8.png"/><Relationship Id="rId8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11" Type="http://schemas.openxmlformats.org/officeDocument/2006/relationships/image" Target="../media/image20.png"/><Relationship Id="rId10" Type="http://schemas.openxmlformats.org/officeDocument/2006/relationships/image" Target="../media/image19.png"/><Relationship Id="rId12" Type="http://schemas.openxmlformats.org/officeDocument/2006/relationships/image" Target="../media/image24.png"/><Relationship Id="rId9" Type="http://schemas.openxmlformats.org/officeDocument/2006/relationships/image" Target="../media/image12.png"/><Relationship Id="rId5" Type="http://schemas.openxmlformats.org/officeDocument/2006/relationships/image" Target="../media/image15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6.png"/></Relationships>
</file>

<file path=ppt/slides/_rels/slide13.xml.rels><?xml version="1.0" encoding="UTF-8" standalone="yes"?><Relationships xmlns="http://schemas.openxmlformats.org/package/2006/relationships"><Relationship Id="rId11" Type="http://schemas.openxmlformats.org/officeDocument/2006/relationships/image" Target="../media/image21.png"/><Relationship Id="rId10" Type="http://schemas.openxmlformats.org/officeDocument/2006/relationships/image" Target="../media/image22.png"/><Relationship Id="rId13" Type="http://schemas.openxmlformats.org/officeDocument/2006/relationships/image" Target="../media/image25.png"/><Relationship Id="rId12" Type="http://schemas.openxmlformats.org/officeDocument/2006/relationships/image" Target="../media/image29.png"/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9" Type="http://schemas.openxmlformats.org/officeDocument/2006/relationships/image" Target="../media/image12.png"/><Relationship Id="rId5" Type="http://schemas.openxmlformats.org/officeDocument/2006/relationships/image" Target="../media/image7.png"/><Relationship Id="rId6" Type="http://schemas.openxmlformats.org/officeDocument/2006/relationships/image" Target="../media/image23.png"/><Relationship Id="rId7" Type="http://schemas.openxmlformats.org/officeDocument/2006/relationships/image" Target="../media/image14.png"/><Relationship Id="rId8" Type="http://schemas.openxmlformats.org/officeDocument/2006/relationships/image" Target="../media/image2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9" Type="http://schemas.openxmlformats.org/officeDocument/2006/relationships/image" Target="../media/image26.png"/><Relationship Id="rId5" Type="http://schemas.openxmlformats.org/officeDocument/2006/relationships/image" Target="../media/image14.png"/><Relationship Id="rId6" Type="http://schemas.openxmlformats.org/officeDocument/2006/relationships/image" Target="../media/image21.png"/><Relationship Id="rId7" Type="http://schemas.openxmlformats.org/officeDocument/2006/relationships/image" Target="../media/image25.png"/><Relationship Id="rId8" Type="http://schemas.openxmlformats.org/officeDocument/2006/relationships/image" Target="../media/image27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://setosa.io/ev/image-kernels/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0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6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hackernoon.com/visualizing-parts-of-convolutional-neural-networks-using-keras-and-cats-5cc01b214e59" TargetMode="External"/><Relationship Id="rId4" Type="http://schemas.openxmlformats.org/officeDocument/2006/relationships/image" Target="../media/image3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://setosa.io/ev/image-kernels/" TargetMode="External"/><Relationship Id="rId4" Type="http://schemas.openxmlformats.org/officeDocument/2006/relationships/image" Target="../media/image3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ricardodeazambuja.com/deep_learning/2017/03/05/easy-peasy_conv_deep_learning_two/" TargetMode="External"/><Relationship Id="rId4" Type="http://schemas.openxmlformats.org/officeDocument/2006/relationships/hyperlink" Target="http://intellabs.github.io/RiverTrail/tutorial/" TargetMode="External"/><Relationship Id="rId5" Type="http://schemas.openxmlformats.org/officeDocument/2006/relationships/image" Target="../media/image40.png"/><Relationship Id="rId6" Type="http://schemas.openxmlformats.org/officeDocument/2006/relationships/image" Target="../media/image41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://cs231n.github.io/convolutional-networks/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stackoverflow.com/questions/42786717/how-to-calculate-the-number-of-parameters-for-convolutional-neural-network" TargetMode="External"/><Relationship Id="rId4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Math for Simple ConvNet Example</a:t>
            </a:r>
            <a:endParaRPr/>
          </a:p>
        </p:txBody>
      </p:sp>
      <p:sp>
        <p:nvSpPr>
          <p:cNvPr id="85" name="Google Shape;85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i="1" lang="en-US"/>
              <a:t>Loosely </a:t>
            </a:r>
            <a:r>
              <a:rPr lang="en-US"/>
              <a:t>corresponds to StackOverflow example:  </a:t>
            </a:r>
            <a:r>
              <a:rPr lang="en-US" sz="14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https://stackoverflow.com/questions/42786717/how-to-calculate-the-number-of-parameters-for-convolutional-neural-network</a:t>
            </a:r>
            <a:r>
              <a:rPr lang="en-US" sz="3100"/>
              <a:t> </a:t>
            </a:r>
            <a:endParaRPr sz="3100"/>
          </a:p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/>
              <a:t>… except I decreased the kernels in the Conv2D layers so that I could show you what happens visually!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/>
              <a:t>Later on, I’ll show you my handwritten math solution for the StackOverflow example.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A simple ConvNet Example </a:t>
            </a:r>
            <a:endParaRPr/>
          </a:p>
        </p:txBody>
      </p:sp>
      <p:sp>
        <p:nvSpPr>
          <p:cNvPr id="91" name="Google Shape;91;p14"/>
          <p:cNvSpPr txBox="1"/>
          <p:nvPr/>
        </p:nvSpPr>
        <p:spPr>
          <a:xfrm>
            <a:off x="-7" y="5950566"/>
            <a:ext cx="11237100" cy="12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I give you just the image on the left, can you do the math and get the image on the right?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I gave you the code on the left, could you add meaningful comments and describe the arguments to the functions?</a:t>
            </a:r>
            <a:endParaRPr/>
          </a:p>
          <a:p>
            <a:pPr indent="0" lvl="8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should have mastery of what everything means on this slide!!!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4"/>
          <p:cNvSpPr txBox="1"/>
          <p:nvPr/>
        </p:nvSpPr>
        <p:spPr>
          <a:xfrm>
            <a:off x="1006782" y="1514775"/>
            <a:ext cx="10347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Remember… we are just making different representations of data (feature maps) by using different kernels…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3" name="Google Shape;9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24388" y="1884096"/>
            <a:ext cx="5256757" cy="3873067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57018" y="2218470"/>
            <a:ext cx="6692593" cy="31090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Look at the number of trainable parms in this ConvNet… 20K!</a:t>
            </a:r>
            <a:endParaRPr/>
          </a:p>
        </p:txBody>
      </p:sp>
      <p:sp>
        <p:nvSpPr>
          <p:cNvPr id="100" name="Google Shape;100;p15"/>
          <p:cNvSpPr txBox="1"/>
          <p:nvPr/>
        </p:nvSpPr>
        <p:spPr>
          <a:xfrm>
            <a:off x="831273" y="2456873"/>
            <a:ext cx="8996630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0480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</a:pPr>
            <a:r>
              <a:rPr lang="en-US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Think about how many hidden units and layers you would need to get that close.</a:t>
            </a:r>
            <a:endParaRPr sz="1700"/>
          </a:p>
          <a:p>
            <a:pPr indent="-30480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</a:pPr>
            <a:r>
              <a:rPr lang="en-US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Then remember how DNNs can’t handle rotated/augmented data… but that ConvNets can!</a:t>
            </a:r>
            <a:endParaRPr sz="1700"/>
          </a:p>
          <a:p>
            <a:pPr indent="-1714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Size of the outputted feature maps</a:t>
            </a:r>
            <a:endParaRPr/>
          </a:p>
        </p:txBody>
      </p:sp>
      <p:sp>
        <p:nvSpPr>
          <p:cNvPr id="106" name="Google Shape;106;p16"/>
          <p:cNvSpPr/>
          <p:nvPr/>
        </p:nvSpPr>
        <p:spPr>
          <a:xfrm>
            <a:off x="838200" y="1582018"/>
            <a:ext cx="6096000" cy="175432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M, N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are the filter size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Stride will always be 1 for our examples (not needed in formula)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the number of channels (1 for BW, 3 for RGB)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the bias, and it’s always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the number of feature maps that will be created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6"/>
          <p:cNvSpPr txBox="1"/>
          <p:nvPr/>
        </p:nvSpPr>
        <p:spPr>
          <a:xfrm>
            <a:off x="838201" y="3428825"/>
            <a:ext cx="10687200" cy="31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First you need the size of the rows and columns…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Size of rows and columns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(S</a:t>
            </a:r>
            <a:r>
              <a:rPr baseline="-25000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– (m-1)) # this gives you rows and columns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is true when there is no padding (which we will use in our class - always perfectly pick our kernel sizes so we don’t have any remainders).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convention is: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(BATCH, ROWS, COLUMNS, CHANNELS)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BATCH is always “NONE” (you decide the batch when you fit the model!)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ROWS and COLUMNS are calculated above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CHANNELS are the number of FEATURE MAPS that are created after convolution layers (given in the code).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6"/>
          <p:cNvSpPr txBox="1"/>
          <p:nvPr/>
        </p:nvSpPr>
        <p:spPr>
          <a:xfrm>
            <a:off x="9922750" y="23450"/>
            <a:ext cx="2269500" cy="57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9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 reminder...</a:t>
            </a:r>
            <a:endParaRPr b="1" i="1" sz="19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Number of trainable parameters</a:t>
            </a:r>
            <a:endParaRPr/>
          </a:p>
        </p:txBody>
      </p:sp>
      <p:sp>
        <p:nvSpPr>
          <p:cNvPr id="114" name="Google Shape;114;p17"/>
          <p:cNvSpPr txBox="1"/>
          <p:nvPr/>
        </p:nvSpPr>
        <p:spPr>
          <a:xfrm>
            <a:off x="350982" y="2272145"/>
            <a:ext cx="6180795" cy="14773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M, N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are the filter size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Stride will always be 1 for our examples (not needed in formula)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the number of channels (1 for BW, 3 for RGB)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the bias, and it’s always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the number of feature maps that will be created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7"/>
          <p:cNvSpPr txBox="1"/>
          <p:nvPr/>
        </p:nvSpPr>
        <p:spPr>
          <a:xfrm>
            <a:off x="838200" y="4590473"/>
            <a:ext cx="7011984" cy="14773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Conv2D layers, it’s…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# of trainable parms = ((M * N * L) +B) * F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From Flatten to Dense, or Hidden to Hidden, or Hidden to Output, it’s…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# of trainable parms = (INPUT COLUMNS + B)*HIDDEN UNITS IN OUTPUT LAYER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7"/>
          <p:cNvSpPr txBox="1"/>
          <p:nvPr/>
        </p:nvSpPr>
        <p:spPr>
          <a:xfrm>
            <a:off x="9922750" y="23450"/>
            <a:ext cx="2269500" cy="57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9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 reminder...</a:t>
            </a:r>
            <a:endParaRPr b="1" i="1" sz="19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2581" y="1121227"/>
            <a:ext cx="1789895" cy="1936009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8"/>
          <p:cNvSpPr txBox="1"/>
          <p:nvPr/>
        </p:nvSpPr>
        <p:spPr>
          <a:xfrm>
            <a:off x="693503" y="3057236"/>
            <a:ext cx="2149243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Input image,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28 x 28,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 channel (grayscale)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8"/>
          <p:cNvSpPr txBox="1"/>
          <p:nvPr>
            <p:ph type="title"/>
          </p:nvPr>
        </p:nvSpPr>
        <p:spPr>
          <a:xfrm>
            <a:off x="828964" y="0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b="1" lang="en-US"/>
              <a:t>Start Here</a:t>
            </a:r>
            <a:endParaRPr b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cdn-images-1.medium.com/max/1706/1*xBkRA7cVyXGHIrtngV3qlg.png" id="128" name="Google Shape;12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50486" y="1337912"/>
            <a:ext cx="9593467" cy="3711424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b="1" lang="en-US"/>
              <a:t>Convolution2D (light downsampling)</a:t>
            </a:r>
            <a:endParaRPr b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2581" y="1121227"/>
            <a:ext cx="1789895" cy="1936009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0"/>
          <p:cNvSpPr txBox="1"/>
          <p:nvPr/>
        </p:nvSpPr>
        <p:spPr>
          <a:xfrm>
            <a:off x="2464359" y="4276436"/>
            <a:ext cx="1370990" cy="23083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Convolution2D,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 different feature maps,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Stride of 1,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Kernel Size = (5,5).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6" name="Google Shape;136;p20"/>
          <p:cNvPicPr preferRelativeResize="0"/>
          <p:nvPr/>
        </p:nvPicPr>
        <p:blipFill rotWithShape="1">
          <a:blip r:embed="rId4">
            <a:alphaModFix/>
          </a:blip>
          <a:srcRect b="6355" l="36162" r="415" t="3129"/>
          <a:stretch/>
        </p:blipFill>
        <p:spPr>
          <a:xfrm>
            <a:off x="2686240" y="406399"/>
            <a:ext cx="1149108" cy="11453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20"/>
          <p:cNvPicPr preferRelativeResize="0"/>
          <p:nvPr/>
        </p:nvPicPr>
        <p:blipFill rotWithShape="1">
          <a:blip r:embed="rId5">
            <a:alphaModFix/>
          </a:blip>
          <a:srcRect b="6355" l="36162" r="415" t="3129"/>
          <a:stretch/>
        </p:blipFill>
        <p:spPr>
          <a:xfrm>
            <a:off x="2686240" y="1681017"/>
            <a:ext cx="1149108" cy="11453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20"/>
          <p:cNvPicPr preferRelativeResize="0"/>
          <p:nvPr/>
        </p:nvPicPr>
        <p:blipFill rotWithShape="1">
          <a:blip r:embed="rId6">
            <a:alphaModFix/>
          </a:blip>
          <a:srcRect b="6355" l="36162" r="415" t="3129"/>
          <a:stretch/>
        </p:blipFill>
        <p:spPr>
          <a:xfrm>
            <a:off x="2686240" y="2890981"/>
            <a:ext cx="1149108" cy="1145309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0"/>
          <p:cNvSpPr txBox="1"/>
          <p:nvPr/>
        </p:nvSpPr>
        <p:spPr>
          <a:xfrm>
            <a:off x="693503" y="3057236"/>
            <a:ext cx="130805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Input image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0" name="Google Shape;140;p20"/>
          <p:cNvCxnSpPr>
            <a:stCxn id="134" idx="3"/>
            <a:endCxn id="136" idx="1"/>
          </p:cNvCxnSpPr>
          <p:nvPr/>
        </p:nvCxnSpPr>
        <p:spPr>
          <a:xfrm flipH="1" rot="10800000">
            <a:off x="2242476" y="978931"/>
            <a:ext cx="443700" cy="11103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41" name="Google Shape;141;p20"/>
          <p:cNvCxnSpPr>
            <a:stCxn id="134" idx="3"/>
            <a:endCxn id="137" idx="1"/>
          </p:cNvCxnSpPr>
          <p:nvPr/>
        </p:nvCxnSpPr>
        <p:spPr>
          <a:xfrm>
            <a:off x="2242476" y="2089231"/>
            <a:ext cx="443700" cy="1644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42" name="Google Shape;142;p20"/>
          <p:cNvCxnSpPr>
            <a:stCxn id="134" idx="3"/>
            <a:endCxn id="138" idx="1"/>
          </p:cNvCxnSpPr>
          <p:nvPr/>
        </p:nvCxnSpPr>
        <p:spPr>
          <a:xfrm>
            <a:off x="2242476" y="2089231"/>
            <a:ext cx="443700" cy="13743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43" name="Google Shape;143;p20"/>
          <p:cNvSpPr txBox="1"/>
          <p:nvPr/>
        </p:nvSpPr>
        <p:spPr>
          <a:xfrm>
            <a:off x="4285673" y="508980"/>
            <a:ext cx="4710545" cy="5909310"/>
          </a:xfrm>
          <a:prstGeom prst="rect">
            <a:avLst/>
          </a:prstGeom>
          <a:solidFill>
            <a:srgbClr val="D8E2F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NOTES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After convolution, we get 3 different feature maps.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These were generated with a sliding 5x5 kernel going across the image.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Kernel weights are originally random, and updated via backpropagation.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Our nice 28x28 input image gets slimmed down to 24x24 (light down-sampling) thanks to conv2D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Pay attention to format of output size</a:t>
            </a:r>
            <a:endParaRPr/>
          </a:p>
          <a:p>
            <a:pPr indent="-2857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1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(BATCH, ROW, COLS, CHANNELS)</a:t>
            </a:r>
            <a:endParaRPr/>
          </a:p>
          <a:p>
            <a:pPr indent="-2857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1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our example, BATCH is always NONE (this is decided later in the script).</a:t>
            </a:r>
            <a:endParaRPr/>
          </a:p>
          <a:p>
            <a:pPr indent="-2857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1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CHANNELS ARE THE FEATURE MAPS. That’s why there’s a 3 in (NONE,24,24,3)… we generated 3 FEATURE MAPS.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 CAREFUL AFTER THE SECOND ROUND OF CONV2D (later on)! This is what confuses most students.</a:t>
            </a:r>
            <a:endParaRPr i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20"/>
          <p:cNvSpPr txBox="1"/>
          <p:nvPr/>
        </p:nvSpPr>
        <p:spPr>
          <a:xfrm>
            <a:off x="589310" y="751895"/>
            <a:ext cx="164660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(NONE,28,28,1)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20"/>
          <p:cNvSpPr txBox="1"/>
          <p:nvPr/>
        </p:nvSpPr>
        <p:spPr>
          <a:xfrm>
            <a:off x="2437491" y="54633"/>
            <a:ext cx="164660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(NONE,24,24,3)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20"/>
          <p:cNvSpPr/>
          <p:nvPr/>
        </p:nvSpPr>
        <p:spPr>
          <a:xfrm>
            <a:off x="9319491" y="382563"/>
            <a:ext cx="2872509" cy="175432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Size of resultant feature map = (S</a:t>
            </a:r>
            <a:r>
              <a:rPr baseline="-25000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– (m-1))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Don’t forget about batch size and the number of feature maps when writing the output shape!</a:t>
            </a:r>
            <a:endParaRPr/>
          </a:p>
        </p:txBody>
      </p:sp>
      <p:sp>
        <p:nvSpPr>
          <p:cNvPr id="147" name="Google Shape;147;p20"/>
          <p:cNvSpPr txBox="1"/>
          <p:nvPr/>
        </p:nvSpPr>
        <p:spPr>
          <a:xfrm>
            <a:off x="8105560" y="54633"/>
            <a:ext cx="408644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# of trainable parms = ((M * N * L) +B) * F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20"/>
          <p:cNvSpPr txBox="1"/>
          <p:nvPr/>
        </p:nvSpPr>
        <p:spPr>
          <a:xfrm>
            <a:off x="2686240" y="6524846"/>
            <a:ext cx="111319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PARM=78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20"/>
          <p:cNvSpPr txBox="1"/>
          <p:nvPr/>
        </p:nvSpPr>
        <p:spPr>
          <a:xfrm>
            <a:off x="9110350" y="3286125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-"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M, N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are the filter size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Stride will always be 1 for our examples (not needed in formula)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-"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the number of channels (1 for BW, 3 for RGB)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-"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the bias, and it’s always 1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-"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the number of feature maps that will be created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/>
        </p:nvSpPr>
        <p:spPr>
          <a:xfrm>
            <a:off x="1496291" y="646545"/>
            <a:ext cx="9843592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MaxPooling2D (aggressive downsampling)</a:t>
            </a:r>
            <a:endParaRPr sz="4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 result for pooling example" id="155" name="Google Shape;155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98186" y="1415986"/>
            <a:ext cx="6515822" cy="466839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1"/>
          <p:cNvSpPr txBox="1"/>
          <p:nvPr/>
        </p:nvSpPr>
        <p:spPr>
          <a:xfrm>
            <a:off x="720436" y="5929745"/>
            <a:ext cx="2944973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Max or average? Your choice! Most people just use MaxPooling and move on...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21"/>
          <p:cNvSpPr/>
          <p:nvPr/>
        </p:nvSpPr>
        <p:spPr>
          <a:xfrm>
            <a:off x="7679171" y="1323622"/>
            <a:ext cx="1634837" cy="1493469"/>
          </a:xfrm>
          <a:prstGeom prst="ellipse">
            <a:avLst/>
          </a:prstGeom>
          <a:noFill/>
          <a:ln cap="flat" cmpd="sng" w="5715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162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2581" y="1121227"/>
            <a:ext cx="1789895" cy="1936009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2"/>
          <p:cNvSpPr txBox="1"/>
          <p:nvPr/>
        </p:nvSpPr>
        <p:spPr>
          <a:xfrm>
            <a:off x="2464359" y="4276436"/>
            <a:ext cx="1370990" cy="23083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Convolution2D,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 different feature maps,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Stride of 1,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Kernel Size = (5,5)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4" name="Google Shape;164;p22"/>
          <p:cNvPicPr preferRelativeResize="0"/>
          <p:nvPr/>
        </p:nvPicPr>
        <p:blipFill rotWithShape="1">
          <a:blip r:embed="rId4">
            <a:alphaModFix/>
          </a:blip>
          <a:srcRect b="6355" l="36162" r="415" t="3129"/>
          <a:stretch/>
        </p:blipFill>
        <p:spPr>
          <a:xfrm>
            <a:off x="2686240" y="406399"/>
            <a:ext cx="1149108" cy="11453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2"/>
          <p:cNvPicPr preferRelativeResize="0"/>
          <p:nvPr/>
        </p:nvPicPr>
        <p:blipFill rotWithShape="1">
          <a:blip r:embed="rId5">
            <a:alphaModFix/>
          </a:blip>
          <a:srcRect b="6355" l="36162" r="415" t="3129"/>
          <a:stretch/>
        </p:blipFill>
        <p:spPr>
          <a:xfrm>
            <a:off x="2686240" y="1681017"/>
            <a:ext cx="1149108" cy="11453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22"/>
          <p:cNvPicPr preferRelativeResize="0"/>
          <p:nvPr/>
        </p:nvPicPr>
        <p:blipFill rotWithShape="1">
          <a:blip r:embed="rId6">
            <a:alphaModFix/>
          </a:blip>
          <a:srcRect b="6355" l="36162" r="415" t="3129"/>
          <a:stretch/>
        </p:blipFill>
        <p:spPr>
          <a:xfrm>
            <a:off x="2686240" y="2890981"/>
            <a:ext cx="1149108" cy="11453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2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387114" y="570020"/>
            <a:ext cx="822148" cy="8180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387114" y="1844638"/>
            <a:ext cx="822148" cy="8180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2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387114" y="3054603"/>
            <a:ext cx="822148" cy="818065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2"/>
          <p:cNvSpPr txBox="1"/>
          <p:nvPr/>
        </p:nvSpPr>
        <p:spPr>
          <a:xfrm>
            <a:off x="4057230" y="4276436"/>
            <a:ext cx="1641606" cy="23083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MaxPooling2D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Same 3 feature maps as input (just dimension reduction). Each of the previous maps gets pooled.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22"/>
          <p:cNvSpPr txBox="1"/>
          <p:nvPr/>
        </p:nvSpPr>
        <p:spPr>
          <a:xfrm>
            <a:off x="693503" y="3057236"/>
            <a:ext cx="130805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Input image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2" name="Google Shape;172;p22"/>
          <p:cNvCxnSpPr>
            <a:stCxn id="162" idx="3"/>
            <a:endCxn id="164" idx="1"/>
          </p:cNvCxnSpPr>
          <p:nvPr/>
        </p:nvCxnSpPr>
        <p:spPr>
          <a:xfrm flipH="1" rot="10800000">
            <a:off x="2242476" y="978931"/>
            <a:ext cx="443700" cy="11103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73" name="Google Shape;173;p22"/>
          <p:cNvCxnSpPr>
            <a:stCxn id="162" idx="3"/>
            <a:endCxn id="165" idx="1"/>
          </p:cNvCxnSpPr>
          <p:nvPr/>
        </p:nvCxnSpPr>
        <p:spPr>
          <a:xfrm>
            <a:off x="2242476" y="2089231"/>
            <a:ext cx="443700" cy="1644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74" name="Google Shape;174;p22"/>
          <p:cNvCxnSpPr>
            <a:stCxn id="162" idx="3"/>
            <a:endCxn id="166" idx="1"/>
          </p:cNvCxnSpPr>
          <p:nvPr/>
        </p:nvCxnSpPr>
        <p:spPr>
          <a:xfrm>
            <a:off x="2242476" y="2089231"/>
            <a:ext cx="443700" cy="13743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75" name="Google Shape;175;p22"/>
          <p:cNvCxnSpPr>
            <a:stCxn id="164" idx="3"/>
            <a:endCxn id="167" idx="1"/>
          </p:cNvCxnSpPr>
          <p:nvPr/>
        </p:nvCxnSpPr>
        <p:spPr>
          <a:xfrm>
            <a:off x="3835348" y="979054"/>
            <a:ext cx="5517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76" name="Google Shape;176;p22"/>
          <p:cNvCxnSpPr>
            <a:stCxn id="165" idx="3"/>
            <a:endCxn id="168" idx="1"/>
          </p:cNvCxnSpPr>
          <p:nvPr/>
        </p:nvCxnSpPr>
        <p:spPr>
          <a:xfrm>
            <a:off x="3835348" y="2253672"/>
            <a:ext cx="5517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77" name="Google Shape;177;p22"/>
          <p:cNvCxnSpPr>
            <a:stCxn id="166" idx="3"/>
            <a:endCxn id="169" idx="1"/>
          </p:cNvCxnSpPr>
          <p:nvPr/>
        </p:nvCxnSpPr>
        <p:spPr>
          <a:xfrm>
            <a:off x="3835348" y="3463636"/>
            <a:ext cx="5517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78" name="Google Shape;178;p22"/>
          <p:cNvSpPr txBox="1"/>
          <p:nvPr/>
        </p:nvSpPr>
        <p:spPr>
          <a:xfrm>
            <a:off x="6151418" y="2780144"/>
            <a:ext cx="4793673" cy="2862322"/>
          </a:xfrm>
          <a:prstGeom prst="rect">
            <a:avLst/>
          </a:prstGeom>
          <a:solidFill>
            <a:srgbClr val="D8E2F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NOTE: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Because we used a 2x2 kernel for MaxPooling, our resultant feature maps got halved! From 24x24 to 12x12!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will always be true for a 2x2 kernel… but make sure you use the formula, because I like to throw 3x3 and 5x5 pooling layers at you for giant input images…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trainable parameters for Pooling Layers… it’s naïve… just a bunch of max values…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22"/>
          <p:cNvSpPr txBox="1"/>
          <p:nvPr/>
        </p:nvSpPr>
        <p:spPr>
          <a:xfrm>
            <a:off x="589310" y="751895"/>
            <a:ext cx="164660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(NONE,28,28,1)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2"/>
          <p:cNvSpPr txBox="1"/>
          <p:nvPr/>
        </p:nvSpPr>
        <p:spPr>
          <a:xfrm>
            <a:off x="2437491" y="54633"/>
            <a:ext cx="164660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(NONE,24,24,3)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2"/>
          <p:cNvSpPr txBox="1"/>
          <p:nvPr/>
        </p:nvSpPr>
        <p:spPr>
          <a:xfrm>
            <a:off x="3974885" y="216067"/>
            <a:ext cx="164660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(NONE,12,12,3)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2"/>
          <p:cNvSpPr txBox="1"/>
          <p:nvPr/>
        </p:nvSpPr>
        <p:spPr>
          <a:xfrm>
            <a:off x="2686240" y="6524846"/>
            <a:ext cx="111319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PARM=78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2"/>
          <p:cNvSpPr txBox="1"/>
          <p:nvPr/>
        </p:nvSpPr>
        <p:spPr>
          <a:xfrm>
            <a:off x="4084096" y="6488668"/>
            <a:ext cx="99617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PARM=0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2"/>
          <p:cNvSpPr/>
          <p:nvPr/>
        </p:nvSpPr>
        <p:spPr>
          <a:xfrm>
            <a:off x="9319491" y="382563"/>
            <a:ext cx="2872509" cy="175432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Size of resultant feature map = (S</a:t>
            </a:r>
            <a:r>
              <a:rPr baseline="-25000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– (m-1))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Don’t forget about batch size and the number of feature maps when writing the output shape!</a:t>
            </a:r>
            <a:endParaRPr/>
          </a:p>
        </p:txBody>
      </p:sp>
      <p:sp>
        <p:nvSpPr>
          <p:cNvPr id="185" name="Google Shape;185;p22"/>
          <p:cNvSpPr txBox="1"/>
          <p:nvPr/>
        </p:nvSpPr>
        <p:spPr>
          <a:xfrm>
            <a:off x="8105560" y="54633"/>
            <a:ext cx="408644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# of trainable parms = ((M * N * L) +B) * F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cdn-images-1.medium.com/max/1706/1*xBkRA7cVyXGHIrtngV3qlg.png" id="190" name="Google Shape;190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50486" y="1337912"/>
            <a:ext cx="9593467" cy="3711424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b="1" lang="en-US"/>
              <a:t>Convolution2D (light downsampling)</a:t>
            </a:r>
            <a:endParaRPr b="1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2581" y="1121227"/>
            <a:ext cx="1789895" cy="1936009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4"/>
          <p:cNvSpPr txBox="1"/>
          <p:nvPr/>
        </p:nvSpPr>
        <p:spPr>
          <a:xfrm>
            <a:off x="2050473" y="4276436"/>
            <a:ext cx="1784876" cy="2031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Convolution2D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 feature maps are created,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Stride of 1,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Size = (5,5). Lose two rows and two cols on each side.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8" name="Google Shape;198;p24"/>
          <p:cNvPicPr preferRelativeResize="0"/>
          <p:nvPr/>
        </p:nvPicPr>
        <p:blipFill rotWithShape="1">
          <a:blip r:embed="rId4">
            <a:alphaModFix/>
          </a:blip>
          <a:srcRect b="6355" l="36162" r="415" t="3129"/>
          <a:stretch/>
        </p:blipFill>
        <p:spPr>
          <a:xfrm>
            <a:off x="2686240" y="406399"/>
            <a:ext cx="1149108" cy="11453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24"/>
          <p:cNvPicPr preferRelativeResize="0"/>
          <p:nvPr/>
        </p:nvPicPr>
        <p:blipFill rotWithShape="1">
          <a:blip r:embed="rId5">
            <a:alphaModFix/>
          </a:blip>
          <a:srcRect b="6355" l="36162" r="415" t="3129"/>
          <a:stretch/>
        </p:blipFill>
        <p:spPr>
          <a:xfrm>
            <a:off x="2686240" y="1681017"/>
            <a:ext cx="1149108" cy="114530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24"/>
          <p:cNvPicPr preferRelativeResize="0"/>
          <p:nvPr/>
        </p:nvPicPr>
        <p:blipFill rotWithShape="1">
          <a:blip r:embed="rId6">
            <a:alphaModFix/>
          </a:blip>
          <a:srcRect b="6355" l="36162" r="415" t="3129"/>
          <a:stretch/>
        </p:blipFill>
        <p:spPr>
          <a:xfrm>
            <a:off x="2686240" y="2923399"/>
            <a:ext cx="1149108" cy="114530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387114" y="572655"/>
            <a:ext cx="822148" cy="81806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2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387114" y="1844638"/>
            <a:ext cx="822148" cy="81806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2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376107" y="3049340"/>
            <a:ext cx="822148" cy="818065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24"/>
          <p:cNvSpPr txBox="1"/>
          <p:nvPr/>
        </p:nvSpPr>
        <p:spPr>
          <a:xfrm>
            <a:off x="3977385" y="4276436"/>
            <a:ext cx="1641606" cy="23083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MaxPooling2D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same</a:t>
            </a: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feature maps 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 input (just dimension reduction). Each of those maps gets pooled.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4"/>
          <p:cNvSpPr txBox="1"/>
          <p:nvPr/>
        </p:nvSpPr>
        <p:spPr>
          <a:xfrm>
            <a:off x="693503" y="3057236"/>
            <a:ext cx="1436932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Input image,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 channel,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28 x 28 pixels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4"/>
          <p:cNvSpPr/>
          <p:nvPr/>
        </p:nvSpPr>
        <p:spPr>
          <a:xfrm>
            <a:off x="4257964" y="406399"/>
            <a:ext cx="1043709" cy="1145309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7" name="Google Shape;207;p24"/>
          <p:cNvCxnSpPr>
            <a:stCxn id="196" idx="3"/>
            <a:endCxn id="198" idx="1"/>
          </p:cNvCxnSpPr>
          <p:nvPr/>
        </p:nvCxnSpPr>
        <p:spPr>
          <a:xfrm flipH="1" rot="10800000">
            <a:off x="2242476" y="978931"/>
            <a:ext cx="443700" cy="11103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08" name="Google Shape;208;p24"/>
          <p:cNvCxnSpPr>
            <a:stCxn id="196" idx="3"/>
            <a:endCxn id="199" idx="1"/>
          </p:cNvCxnSpPr>
          <p:nvPr/>
        </p:nvCxnSpPr>
        <p:spPr>
          <a:xfrm>
            <a:off x="2242476" y="2089231"/>
            <a:ext cx="443700" cy="1644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09" name="Google Shape;209;p24"/>
          <p:cNvCxnSpPr>
            <a:stCxn id="196" idx="3"/>
            <a:endCxn id="200" idx="1"/>
          </p:cNvCxnSpPr>
          <p:nvPr/>
        </p:nvCxnSpPr>
        <p:spPr>
          <a:xfrm>
            <a:off x="2242476" y="2089231"/>
            <a:ext cx="443700" cy="14067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210" name="Google Shape;210;p2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936289" y="544944"/>
            <a:ext cx="939606" cy="9442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24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5941581" y="1575089"/>
            <a:ext cx="939606" cy="9442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24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5936289" y="2551781"/>
            <a:ext cx="939606" cy="944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3" name="Google Shape;213;p24"/>
          <p:cNvCxnSpPr>
            <a:stCxn id="206" idx="3"/>
            <a:endCxn id="210" idx="1"/>
          </p:cNvCxnSpPr>
          <p:nvPr/>
        </p:nvCxnSpPr>
        <p:spPr>
          <a:xfrm>
            <a:off x="5301673" y="979053"/>
            <a:ext cx="634500" cy="381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14" name="Google Shape;214;p24"/>
          <p:cNvCxnSpPr>
            <a:stCxn id="206" idx="3"/>
            <a:endCxn id="211" idx="1"/>
          </p:cNvCxnSpPr>
          <p:nvPr/>
        </p:nvCxnSpPr>
        <p:spPr>
          <a:xfrm>
            <a:off x="5301673" y="979053"/>
            <a:ext cx="639900" cy="10683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15" name="Google Shape;215;p24"/>
          <p:cNvCxnSpPr>
            <a:stCxn id="206" idx="3"/>
            <a:endCxn id="212" idx="1"/>
          </p:cNvCxnSpPr>
          <p:nvPr/>
        </p:nvCxnSpPr>
        <p:spPr>
          <a:xfrm>
            <a:off x="5301673" y="979053"/>
            <a:ext cx="634500" cy="20448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16" name="Google Shape;216;p24"/>
          <p:cNvSpPr txBox="1"/>
          <p:nvPr/>
        </p:nvSpPr>
        <p:spPr>
          <a:xfrm>
            <a:off x="5761027" y="4276436"/>
            <a:ext cx="1794547" cy="2031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Convolution2D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Each feature map from the pooling layer undergoes convolution again.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7" name="Google Shape;217;p24"/>
          <p:cNvCxnSpPr>
            <a:stCxn id="198" idx="3"/>
            <a:endCxn id="206" idx="1"/>
          </p:cNvCxnSpPr>
          <p:nvPr/>
        </p:nvCxnSpPr>
        <p:spPr>
          <a:xfrm>
            <a:off x="3835348" y="979054"/>
            <a:ext cx="4227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18" name="Google Shape;218;p24"/>
          <p:cNvCxnSpPr>
            <a:stCxn id="199" idx="3"/>
            <a:endCxn id="202" idx="1"/>
          </p:cNvCxnSpPr>
          <p:nvPr/>
        </p:nvCxnSpPr>
        <p:spPr>
          <a:xfrm>
            <a:off x="3835348" y="2253672"/>
            <a:ext cx="5517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19" name="Google Shape;219;p24"/>
          <p:cNvCxnSpPr>
            <a:stCxn id="200" idx="3"/>
            <a:endCxn id="203" idx="1"/>
          </p:cNvCxnSpPr>
          <p:nvPr/>
        </p:nvCxnSpPr>
        <p:spPr>
          <a:xfrm flipH="1" rot="10800000">
            <a:off x="3835348" y="3458254"/>
            <a:ext cx="540900" cy="378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20" name="Google Shape;220;p24"/>
          <p:cNvSpPr txBox="1"/>
          <p:nvPr/>
        </p:nvSpPr>
        <p:spPr>
          <a:xfrm>
            <a:off x="7402615" y="833649"/>
            <a:ext cx="4382986" cy="3416320"/>
          </a:xfrm>
          <a:prstGeom prst="rect">
            <a:avLst/>
          </a:prstGeom>
          <a:solidFill>
            <a:srgbClr val="D8E2F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NOTES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Font typeface="Arial"/>
              <a:buChar char="•"/>
            </a:pPr>
            <a:r>
              <a:rPr b="1" i="1" lang="en-US" sz="1800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THEN FOR ONE POOLED FEATURE MAP…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(implied because our batch size is always NONE).</a:t>
            </a:r>
            <a:endParaRPr/>
          </a:p>
          <a:p>
            <a:pPr indent="-2857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1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 features were generated for EACH POOLED FEATURE MAP…</a:t>
            </a:r>
            <a:endParaRPr/>
          </a:p>
          <a:p>
            <a:pPr indent="-2857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1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may be tempted to consider all of the feature maps from the pooled layer…</a:t>
            </a:r>
            <a:endParaRPr/>
          </a:p>
          <a:p>
            <a:pPr indent="-2857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1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BUT DON’T DO IT! This is the hardest part of the exam… keeping track of the batch size.</a:t>
            </a:r>
            <a:endParaRPr b="0" i="1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4"/>
          <p:cNvSpPr txBox="1"/>
          <p:nvPr/>
        </p:nvSpPr>
        <p:spPr>
          <a:xfrm>
            <a:off x="288927" y="748145"/>
            <a:ext cx="1770308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(NONE,28,28,1)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4"/>
          <p:cNvSpPr txBox="1"/>
          <p:nvPr/>
        </p:nvSpPr>
        <p:spPr>
          <a:xfrm>
            <a:off x="2357113" y="28052"/>
            <a:ext cx="164660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(NONE,24,24,3)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4"/>
          <p:cNvSpPr txBox="1"/>
          <p:nvPr/>
        </p:nvSpPr>
        <p:spPr>
          <a:xfrm>
            <a:off x="3986337" y="4579"/>
            <a:ext cx="164660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(NONE,12,12,3)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4"/>
          <p:cNvSpPr txBox="1"/>
          <p:nvPr/>
        </p:nvSpPr>
        <p:spPr>
          <a:xfrm>
            <a:off x="5632942" y="210104"/>
            <a:ext cx="164660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(NONE,10,10,3)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4"/>
          <p:cNvSpPr txBox="1"/>
          <p:nvPr/>
        </p:nvSpPr>
        <p:spPr>
          <a:xfrm>
            <a:off x="2325470" y="6515489"/>
            <a:ext cx="111319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PARM=78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24"/>
          <p:cNvSpPr txBox="1"/>
          <p:nvPr/>
        </p:nvSpPr>
        <p:spPr>
          <a:xfrm>
            <a:off x="4084096" y="6488668"/>
            <a:ext cx="99617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PARM=0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24"/>
          <p:cNvSpPr txBox="1"/>
          <p:nvPr/>
        </p:nvSpPr>
        <p:spPr>
          <a:xfrm>
            <a:off x="5670153" y="6488668"/>
            <a:ext cx="111319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PARM=84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2" name="Google Shape;232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2581" y="1121227"/>
            <a:ext cx="1789895" cy="1936009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25"/>
          <p:cNvSpPr txBox="1"/>
          <p:nvPr/>
        </p:nvSpPr>
        <p:spPr>
          <a:xfrm>
            <a:off x="2050473" y="4276436"/>
            <a:ext cx="1784876" cy="2031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Convolution2D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 feature maps are created,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Stride of 1,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Size = (3,3). Lose a row and col on each side.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4" name="Google Shape;234;p25"/>
          <p:cNvPicPr preferRelativeResize="0"/>
          <p:nvPr/>
        </p:nvPicPr>
        <p:blipFill rotWithShape="1">
          <a:blip r:embed="rId4">
            <a:alphaModFix/>
          </a:blip>
          <a:srcRect b="6355" l="36162" r="415" t="3129"/>
          <a:stretch/>
        </p:blipFill>
        <p:spPr>
          <a:xfrm>
            <a:off x="2686240" y="406399"/>
            <a:ext cx="1149108" cy="114530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25"/>
          <p:cNvPicPr preferRelativeResize="0"/>
          <p:nvPr/>
        </p:nvPicPr>
        <p:blipFill rotWithShape="1">
          <a:blip r:embed="rId5">
            <a:alphaModFix/>
          </a:blip>
          <a:srcRect b="6355" l="36162" r="415" t="3129"/>
          <a:stretch/>
        </p:blipFill>
        <p:spPr>
          <a:xfrm>
            <a:off x="2686240" y="1681017"/>
            <a:ext cx="1149108" cy="114530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25"/>
          <p:cNvPicPr preferRelativeResize="0"/>
          <p:nvPr/>
        </p:nvPicPr>
        <p:blipFill rotWithShape="1">
          <a:blip r:embed="rId6">
            <a:alphaModFix/>
          </a:blip>
          <a:srcRect b="6355" l="36162" r="415" t="3129"/>
          <a:stretch/>
        </p:blipFill>
        <p:spPr>
          <a:xfrm>
            <a:off x="2686240" y="2890981"/>
            <a:ext cx="1149108" cy="114530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469964" y="655094"/>
            <a:ext cx="739298" cy="735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2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387114" y="1844638"/>
            <a:ext cx="822148" cy="81806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2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387114" y="3023918"/>
            <a:ext cx="822148" cy="818065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25"/>
          <p:cNvSpPr txBox="1"/>
          <p:nvPr/>
        </p:nvSpPr>
        <p:spPr>
          <a:xfrm>
            <a:off x="3977385" y="4276436"/>
            <a:ext cx="1641606" cy="23083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MaxPooling2D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same</a:t>
            </a: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feature maps 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 input (just dimension reduction). Each of those maps gets pooled.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5"/>
          <p:cNvSpPr txBox="1"/>
          <p:nvPr/>
        </p:nvSpPr>
        <p:spPr>
          <a:xfrm>
            <a:off x="693503" y="3057236"/>
            <a:ext cx="1436932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Input image,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 channel,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28 x 28 pixels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5"/>
          <p:cNvSpPr/>
          <p:nvPr/>
        </p:nvSpPr>
        <p:spPr>
          <a:xfrm>
            <a:off x="4257964" y="406399"/>
            <a:ext cx="1043709" cy="1145309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3" name="Google Shape;243;p25"/>
          <p:cNvCxnSpPr>
            <a:stCxn id="232" idx="3"/>
            <a:endCxn id="234" idx="1"/>
          </p:cNvCxnSpPr>
          <p:nvPr/>
        </p:nvCxnSpPr>
        <p:spPr>
          <a:xfrm flipH="1" rot="10800000">
            <a:off x="2242476" y="978931"/>
            <a:ext cx="443700" cy="11103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44" name="Google Shape;244;p25"/>
          <p:cNvCxnSpPr>
            <a:stCxn id="232" idx="3"/>
            <a:endCxn id="235" idx="1"/>
          </p:cNvCxnSpPr>
          <p:nvPr/>
        </p:nvCxnSpPr>
        <p:spPr>
          <a:xfrm>
            <a:off x="2242476" y="2089231"/>
            <a:ext cx="443700" cy="1644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45" name="Google Shape;245;p25"/>
          <p:cNvCxnSpPr>
            <a:stCxn id="232" idx="3"/>
            <a:endCxn id="236" idx="1"/>
          </p:cNvCxnSpPr>
          <p:nvPr/>
        </p:nvCxnSpPr>
        <p:spPr>
          <a:xfrm>
            <a:off x="2242476" y="2089231"/>
            <a:ext cx="443700" cy="13743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246" name="Google Shape;246;p2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105235" y="714730"/>
            <a:ext cx="770659" cy="77448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47" name="Google Shape;247;p25"/>
          <p:cNvCxnSpPr>
            <a:stCxn id="242" idx="3"/>
            <a:endCxn id="246" idx="1"/>
          </p:cNvCxnSpPr>
          <p:nvPr/>
        </p:nvCxnSpPr>
        <p:spPr>
          <a:xfrm>
            <a:off x="5301673" y="979053"/>
            <a:ext cx="803700" cy="1230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48" name="Google Shape;248;p25"/>
          <p:cNvCxnSpPr>
            <a:stCxn id="242" idx="3"/>
          </p:cNvCxnSpPr>
          <p:nvPr/>
        </p:nvCxnSpPr>
        <p:spPr>
          <a:xfrm>
            <a:off x="5301673" y="979053"/>
            <a:ext cx="639900" cy="10683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49" name="Google Shape;249;p25"/>
          <p:cNvCxnSpPr>
            <a:stCxn id="242" idx="3"/>
          </p:cNvCxnSpPr>
          <p:nvPr/>
        </p:nvCxnSpPr>
        <p:spPr>
          <a:xfrm>
            <a:off x="5301673" y="979053"/>
            <a:ext cx="634500" cy="20448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50" name="Google Shape;250;p25"/>
          <p:cNvSpPr txBox="1"/>
          <p:nvPr/>
        </p:nvSpPr>
        <p:spPr>
          <a:xfrm>
            <a:off x="5761027" y="4276436"/>
            <a:ext cx="1794547" cy="2031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Convolution2D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Each feature map from the pooling layer undergoes convolution again.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51" name="Google Shape;251;p25"/>
          <p:cNvCxnSpPr>
            <a:stCxn id="234" idx="3"/>
            <a:endCxn id="242" idx="1"/>
          </p:cNvCxnSpPr>
          <p:nvPr/>
        </p:nvCxnSpPr>
        <p:spPr>
          <a:xfrm>
            <a:off x="3835348" y="979054"/>
            <a:ext cx="4227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52" name="Google Shape;252;p25"/>
          <p:cNvCxnSpPr>
            <a:stCxn id="235" idx="3"/>
            <a:endCxn id="238" idx="1"/>
          </p:cNvCxnSpPr>
          <p:nvPr/>
        </p:nvCxnSpPr>
        <p:spPr>
          <a:xfrm>
            <a:off x="3835348" y="2253672"/>
            <a:ext cx="5517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53" name="Google Shape;253;p25"/>
          <p:cNvCxnSpPr>
            <a:stCxn id="236" idx="3"/>
            <a:endCxn id="239" idx="1"/>
          </p:cNvCxnSpPr>
          <p:nvPr/>
        </p:nvCxnSpPr>
        <p:spPr>
          <a:xfrm flipH="1" rot="10800000">
            <a:off x="3835348" y="3433036"/>
            <a:ext cx="551700" cy="30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54" name="Google Shape;254;p25"/>
          <p:cNvSpPr txBox="1"/>
          <p:nvPr/>
        </p:nvSpPr>
        <p:spPr>
          <a:xfrm>
            <a:off x="7472219" y="4272677"/>
            <a:ext cx="1746159" cy="25853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MaxPooling2D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same</a:t>
            </a: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feature maps 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 input (just dimension reduction). Each of those maps gets pooled.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5" name="Google Shape;255;p25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105234" y="1753744"/>
            <a:ext cx="770659" cy="774487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25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6109274" y="2792758"/>
            <a:ext cx="770659" cy="774487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25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7354935" y="919921"/>
            <a:ext cx="401277" cy="402612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5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7354934" y="1970146"/>
            <a:ext cx="401277" cy="402612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5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7354935" y="2978695"/>
            <a:ext cx="401277" cy="40261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60" name="Google Shape;260;p25"/>
          <p:cNvCxnSpPr>
            <a:stCxn id="246" idx="3"/>
            <a:endCxn id="257" idx="1"/>
          </p:cNvCxnSpPr>
          <p:nvPr/>
        </p:nvCxnSpPr>
        <p:spPr>
          <a:xfrm>
            <a:off x="6875894" y="1101973"/>
            <a:ext cx="479100" cy="192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61" name="Google Shape;261;p25"/>
          <p:cNvCxnSpPr>
            <a:stCxn id="255" idx="3"/>
            <a:endCxn id="258" idx="1"/>
          </p:cNvCxnSpPr>
          <p:nvPr/>
        </p:nvCxnSpPr>
        <p:spPr>
          <a:xfrm>
            <a:off x="6875893" y="2140987"/>
            <a:ext cx="479100" cy="30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62" name="Google Shape;262;p25"/>
          <p:cNvCxnSpPr>
            <a:stCxn id="256" idx="3"/>
            <a:endCxn id="259" idx="1"/>
          </p:cNvCxnSpPr>
          <p:nvPr/>
        </p:nvCxnSpPr>
        <p:spPr>
          <a:xfrm>
            <a:off x="6879933" y="3180001"/>
            <a:ext cx="474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63" name="Google Shape;263;p25"/>
          <p:cNvSpPr txBox="1"/>
          <p:nvPr/>
        </p:nvSpPr>
        <p:spPr>
          <a:xfrm flipH="1">
            <a:off x="9037177" y="293326"/>
            <a:ext cx="2946863" cy="3416320"/>
          </a:xfrm>
          <a:prstGeom prst="rect">
            <a:avLst/>
          </a:prstGeom>
          <a:solidFill>
            <a:srgbClr val="D8E2F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NOTE: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Remember – pooling is aggressive down-sampling… use the formula to see how size changes…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When you have a 2x2 window in maxPooling, you will HALVE the size of your feature map!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trainable parms for pooling… it’s naïve…</a:t>
            </a:r>
            <a:endParaRPr i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5"/>
          <p:cNvSpPr txBox="1"/>
          <p:nvPr/>
        </p:nvSpPr>
        <p:spPr>
          <a:xfrm>
            <a:off x="288927" y="748145"/>
            <a:ext cx="1770308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(NONE,28,28,1)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5"/>
          <p:cNvSpPr txBox="1"/>
          <p:nvPr/>
        </p:nvSpPr>
        <p:spPr>
          <a:xfrm>
            <a:off x="2357113" y="28052"/>
            <a:ext cx="164660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(NONE,24,24,3)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5"/>
          <p:cNvSpPr txBox="1"/>
          <p:nvPr/>
        </p:nvSpPr>
        <p:spPr>
          <a:xfrm>
            <a:off x="3986337" y="4579"/>
            <a:ext cx="164660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(NONE,12,12,3)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5"/>
          <p:cNvSpPr txBox="1"/>
          <p:nvPr/>
        </p:nvSpPr>
        <p:spPr>
          <a:xfrm>
            <a:off x="5612960" y="359174"/>
            <a:ext cx="164660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(NONE,10,10,3)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5"/>
          <p:cNvSpPr txBox="1"/>
          <p:nvPr/>
        </p:nvSpPr>
        <p:spPr>
          <a:xfrm>
            <a:off x="7298509" y="502849"/>
            <a:ext cx="146546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(NONE,</a:t>
            </a:r>
            <a:r>
              <a:rPr lang="en-US" sz="18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5,5,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5"/>
          <p:cNvSpPr txBox="1"/>
          <p:nvPr/>
        </p:nvSpPr>
        <p:spPr>
          <a:xfrm>
            <a:off x="7315345" y="3684571"/>
            <a:ext cx="176599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 feature maps…</a:t>
            </a:r>
            <a:endParaRPr i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5"/>
          <p:cNvSpPr txBox="1"/>
          <p:nvPr/>
        </p:nvSpPr>
        <p:spPr>
          <a:xfrm>
            <a:off x="2325470" y="6515489"/>
            <a:ext cx="111319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PARM=78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5"/>
          <p:cNvSpPr txBox="1"/>
          <p:nvPr/>
        </p:nvSpPr>
        <p:spPr>
          <a:xfrm>
            <a:off x="4084096" y="6488668"/>
            <a:ext cx="99617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PARM=0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5"/>
          <p:cNvSpPr txBox="1"/>
          <p:nvPr/>
        </p:nvSpPr>
        <p:spPr>
          <a:xfrm>
            <a:off x="5670153" y="6488668"/>
            <a:ext cx="111319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PARM=84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5"/>
          <p:cNvSpPr txBox="1"/>
          <p:nvPr/>
        </p:nvSpPr>
        <p:spPr>
          <a:xfrm>
            <a:off x="7523381" y="6471790"/>
            <a:ext cx="99617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PARM=0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8" name="Google Shape;27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85925" y="1319212"/>
            <a:ext cx="8820150" cy="4219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Google Shape;283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2581" y="1121227"/>
            <a:ext cx="1789895" cy="1936009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27"/>
          <p:cNvSpPr txBox="1"/>
          <p:nvPr/>
        </p:nvSpPr>
        <p:spPr>
          <a:xfrm>
            <a:off x="2050473" y="4276436"/>
            <a:ext cx="1784876" cy="23083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Convolution2D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 feature maps are created,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Stride of 1,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Size = (5,5). Lose two rows and two columns on each side.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5" name="Google Shape;285;p27"/>
          <p:cNvPicPr preferRelativeResize="0"/>
          <p:nvPr/>
        </p:nvPicPr>
        <p:blipFill rotWithShape="1">
          <a:blip r:embed="rId4">
            <a:alphaModFix/>
          </a:blip>
          <a:srcRect b="6355" l="36162" r="415" t="3129"/>
          <a:stretch/>
        </p:blipFill>
        <p:spPr>
          <a:xfrm>
            <a:off x="2686240" y="406399"/>
            <a:ext cx="1149108" cy="1145309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27"/>
          <p:cNvPicPr preferRelativeResize="0"/>
          <p:nvPr/>
        </p:nvPicPr>
        <p:blipFill rotWithShape="1">
          <a:blip r:embed="rId4">
            <a:alphaModFix/>
          </a:blip>
          <a:srcRect b="6355" l="36162" r="415" t="3129"/>
          <a:stretch/>
        </p:blipFill>
        <p:spPr>
          <a:xfrm>
            <a:off x="2686240" y="1681017"/>
            <a:ext cx="1149108" cy="1145309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27"/>
          <p:cNvPicPr preferRelativeResize="0"/>
          <p:nvPr/>
        </p:nvPicPr>
        <p:blipFill rotWithShape="1">
          <a:blip r:embed="rId4">
            <a:alphaModFix/>
          </a:blip>
          <a:srcRect b="6355" l="36162" r="415" t="3129"/>
          <a:stretch/>
        </p:blipFill>
        <p:spPr>
          <a:xfrm>
            <a:off x="2686240" y="2890981"/>
            <a:ext cx="1149108" cy="1145309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69964" y="655094"/>
            <a:ext cx="739298" cy="735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89" name="Google Shape;289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87114" y="1844638"/>
            <a:ext cx="822148" cy="81806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" name="Google Shape;290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87114" y="3023918"/>
            <a:ext cx="822148" cy="818065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27"/>
          <p:cNvSpPr txBox="1"/>
          <p:nvPr/>
        </p:nvSpPr>
        <p:spPr>
          <a:xfrm>
            <a:off x="3977385" y="4276436"/>
            <a:ext cx="1641606" cy="23083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MaxPooling2D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same</a:t>
            </a: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feature maps 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 input (just dimension reduction). Each of those maps gets pooled.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27"/>
          <p:cNvSpPr txBox="1"/>
          <p:nvPr/>
        </p:nvSpPr>
        <p:spPr>
          <a:xfrm>
            <a:off x="693503" y="3057236"/>
            <a:ext cx="1436932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Input image,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 channel,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28 x 28 pixels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7"/>
          <p:cNvSpPr/>
          <p:nvPr/>
        </p:nvSpPr>
        <p:spPr>
          <a:xfrm>
            <a:off x="4257964" y="406399"/>
            <a:ext cx="1043709" cy="1145309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4" name="Google Shape;294;p27"/>
          <p:cNvCxnSpPr>
            <a:stCxn id="283" idx="3"/>
            <a:endCxn id="285" idx="1"/>
          </p:cNvCxnSpPr>
          <p:nvPr/>
        </p:nvCxnSpPr>
        <p:spPr>
          <a:xfrm flipH="1" rot="10800000">
            <a:off x="2242476" y="978931"/>
            <a:ext cx="443700" cy="11103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95" name="Google Shape;295;p27"/>
          <p:cNvCxnSpPr>
            <a:stCxn id="283" idx="3"/>
            <a:endCxn id="286" idx="1"/>
          </p:cNvCxnSpPr>
          <p:nvPr/>
        </p:nvCxnSpPr>
        <p:spPr>
          <a:xfrm>
            <a:off x="2242476" y="2089231"/>
            <a:ext cx="443700" cy="1644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96" name="Google Shape;296;p27"/>
          <p:cNvCxnSpPr>
            <a:stCxn id="283" idx="3"/>
            <a:endCxn id="287" idx="1"/>
          </p:cNvCxnSpPr>
          <p:nvPr/>
        </p:nvCxnSpPr>
        <p:spPr>
          <a:xfrm>
            <a:off x="2242476" y="2089231"/>
            <a:ext cx="443700" cy="13743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297" name="Google Shape;29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05235" y="714730"/>
            <a:ext cx="770659" cy="77448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98" name="Google Shape;298;p27"/>
          <p:cNvCxnSpPr>
            <a:stCxn id="293" idx="3"/>
            <a:endCxn id="297" idx="1"/>
          </p:cNvCxnSpPr>
          <p:nvPr/>
        </p:nvCxnSpPr>
        <p:spPr>
          <a:xfrm>
            <a:off x="5301673" y="979053"/>
            <a:ext cx="803700" cy="1230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99" name="Google Shape;299;p27"/>
          <p:cNvCxnSpPr>
            <a:stCxn id="293" idx="3"/>
          </p:cNvCxnSpPr>
          <p:nvPr/>
        </p:nvCxnSpPr>
        <p:spPr>
          <a:xfrm>
            <a:off x="5301673" y="979053"/>
            <a:ext cx="639900" cy="10683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300" name="Google Shape;300;p27"/>
          <p:cNvCxnSpPr>
            <a:stCxn id="293" idx="3"/>
          </p:cNvCxnSpPr>
          <p:nvPr/>
        </p:nvCxnSpPr>
        <p:spPr>
          <a:xfrm>
            <a:off x="5301673" y="979053"/>
            <a:ext cx="634500" cy="20448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301" name="Google Shape;301;p27"/>
          <p:cNvSpPr txBox="1"/>
          <p:nvPr/>
        </p:nvSpPr>
        <p:spPr>
          <a:xfrm>
            <a:off x="5761027" y="3860801"/>
            <a:ext cx="1794547" cy="25853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Convolution2D.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Each feature map from the pooling layer undergoes convolution again. Lose a row and column on each side.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2" name="Google Shape;302;p27"/>
          <p:cNvCxnSpPr>
            <a:stCxn id="285" idx="3"/>
            <a:endCxn id="293" idx="1"/>
          </p:cNvCxnSpPr>
          <p:nvPr/>
        </p:nvCxnSpPr>
        <p:spPr>
          <a:xfrm>
            <a:off x="3835348" y="979054"/>
            <a:ext cx="4227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303" name="Google Shape;303;p27"/>
          <p:cNvCxnSpPr>
            <a:stCxn id="286" idx="3"/>
            <a:endCxn id="289" idx="1"/>
          </p:cNvCxnSpPr>
          <p:nvPr/>
        </p:nvCxnSpPr>
        <p:spPr>
          <a:xfrm>
            <a:off x="3835348" y="2253672"/>
            <a:ext cx="5517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304" name="Google Shape;304;p27"/>
          <p:cNvCxnSpPr>
            <a:stCxn id="287" idx="3"/>
            <a:endCxn id="290" idx="1"/>
          </p:cNvCxnSpPr>
          <p:nvPr/>
        </p:nvCxnSpPr>
        <p:spPr>
          <a:xfrm flipH="1" rot="10800000">
            <a:off x="3835348" y="3433036"/>
            <a:ext cx="551700" cy="30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305" name="Google Shape;305;p27"/>
          <p:cNvSpPr txBox="1"/>
          <p:nvPr/>
        </p:nvSpPr>
        <p:spPr>
          <a:xfrm>
            <a:off x="7518128" y="4238602"/>
            <a:ext cx="1746159" cy="25853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MaxPooling2D, 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same</a:t>
            </a: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feature maps 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 input (just dimension reduction). Each of those maps gets pooled.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6" name="Google Shape;306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05234" y="1753744"/>
            <a:ext cx="770659" cy="774487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09274" y="2792758"/>
            <a:ext cx="770659" cy="774487"/>
          </a:xfrm>
          <a:prstGeom prst="rect">
            <a:avLst/>
          </a:prstGeom>
          <a:noFill/>
          <a:ln>
            <a:noFill/>
          </a:ln>
        </p:spPr>
      </p:pic>
      <p:pic>
        <p:nvPicPr>
          <p:cNvPr id="308" name="Google Shape;308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917106" y="900667"/>
            <a:ext cx="401277" cy="402612"/>
          </a:xfrm>
          <a:prstGeom prst="rect">
            <a:avLst/>
          </a:prstGeom>
          <a:noFill/>
          <a:ln>
            <a:noFill/>
          </a:ln>
        </p:spPr>
      </p:pic>
      <p:pic>
        <p:nvPicPr>
          <p:cNvPr id="309" name="Google Shape;309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938561" y="1970146"/>
            <a:ext cx="401277" cy="402612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997705" y="3008137"/>
            <a:ext cx="401277" cy="40261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11" name="Google Shape;311;p27"/>
          <p:cNvCxnSpPr>
            <a:stCxn id="297" idx="3"/>
            <a:endCxn id="308" idx="1"/>
          </p:cNvCxnSpPr>
          <p:nvPr/>
        </p:nvCxnSpPr>
        <p:spPr>
          <a:xfrm>
            <a:off x="6875894" y="1101973"/>
            <a:ext cx="10413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312" name="Google Shape;312;p27"/>
          <p:cNvCxnSpPr>
            <a:stCxn id="306" idx="3"/>
            <a:endCxn id="309" idx="1"/>
          </p:cNvCxnSpPr>
          <p:nvPr/>
        </p:nvCxnSpPr>
        <p:spPr>
          <a:xfrm>
            <a:off x="6875893" y="2140987"/>
            <a:ext cx="1062600" cy="30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313" name="Google Shape;313;p27"/>
          <p:cNvCxnSpPr>
            <a:stCxn id="307" idx="3"/>
            <a:endCxn id="310" idx="1"/>
          </p:cNvCxnSpPr>
          <p:nvPr/>
        </p:nvCxnSpPr>
        <p:spPr>
          <a:xfrm>
            <a:off x="6879933" y="3180001"/>
            <a:ext cx="1117800" cy="294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314" name="Google Shape;314;p27"/>
          <p:cNvPicPr preferRelativeResize="0"/>
          <p:nvPr/>
        </p:nvPicPr>
        <p:blipFill rotWithShape="1">
          <a:blip r:embed="rId8">
            <a:alphaModFix/>
          </a:blip>
          <a:srcRect b="0" l="83562" r="10783" t="0"/>
          <a:stretch/>
        </p:blipFill>
        <p:spPr>
          <a:xfrm>
            <a:off x="9074623" y="143882"/>
            <a:ext cx="498763" cy="42195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27"/>
          <p:cNvSpPr txBox="1"/>
          <p:nvPr/>
        </p:nvSpPr>
        <p:spPr>
          <a:xfrm>
            <a:off x="9183530" y="4446580"/>
            <a:ext cx="851206" cy="2031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Flatten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now it’s like the input to a DNN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6" name="Google Shape;316;p27"/>
          <p:cNvCxnSpPr>
            <a:stCxn id="308" idx="3"/>
          </p:cNvCxnSpPr>
          <p:nvPr/>
        </p:nvCxnSpPr>
        <p:spPr>
          <a:xfrm>
            <a:off x="8318383" y="1101973"/>
            <a:ext cx="756300" cy="192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317" name="Google Shape;317;p27"/>
          <p:cNvCxnSpPr>
            <a:stCxn id="309" idx="3"/>
            <a:endCxn id="314" idx="1"/>
          </p:cNvCxnSpPr>
          <p:nvPr/>
        </p:nvCxnSpPr>
        <p:spPr>
          <a:xfrm>
            <a:off x="8339838" y="2171452"/>
            <a:ext cx="734700" cy="822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318" name="Google Shape;318;p27"/>
          <p:cNvCxnSpPr>
            <a:stCxn id="310" idx="3"/>
          </p:cNvCxnSpPr>
          <p:nvPr/>
        </p:nvCxnSpPr>
        <p:spPr>
          <a:xfrm>
            <a:off x="8398982" y="3209443"/>
            <a:ext cx="675600" cy="10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descr="https://sds-platform-private.s3-us-east-2.amazonaws.com/uploads/74_blog_image_1.png" id="319" name="Google Shape;319;p27"/>
          <p:cNvPicPr preferRelativeResize="0"/>
          <p:nvPr/>
        </p:nvPicPr>
        <p:blipFill rotWithShape="1">
          <a:blip r:embed="rId9">
            <a:alphaModFix/>
          </a:blip>
          <a:srcRect b="0" l="32527" r="0" t="0"/>
          <a:stretch/>
        </p:blipFill>
        <p:spPr>
          <a:xfrm>
            <a:off x="9626388" y="1729759"/>
            <a:ext cx="1611192" cy="1086421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7"/>
          <p:cNvSpPr txBox="1"/>
          <p:nvPr/>
        </p:nvSpPr>
        <p:spPr>
          <a:xfrm>
            <a:off x="9618373" y="3023916"/>
            <a:ext cx="809482" cy="646331"/>
          </a:xfrm>
          <a:prstGeom prst="rect">
            <a:avLst/>
          </a:prstGeom>
          <a:solidFill>
            <a:srgbClr val="FEE5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Dense layer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7"/>
          <p:cNvSpPr txBox="1"/>
          <p:nvPr/>
        </p:nvSpPr>
        <p:spPr>
          <a:xfrm>
            <a:off x="288927" y="748145"/>
            <a:ext cx="1770308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(NONE,28,28,1)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27"/>
          <p:cNvSpPr txBox="1"/>
          <p:nvPr/>
        </p:nvSpPr>
        <p:spPr>
          <a:xfrm>
            <a:off x="2357113" y="28052"/>
            <a:ext cx="164660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(NONE,24,24,3)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7"/>
          <p:cNvSpPr txBox="1"/>
          <p:nvPr/>
        </p:nvSpPr>
        <p:spPr>
          <a:xfrm>
            <a:off x="3986337" y="4579"/>
            <a:ext cx="164660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(NONE,12,12,3)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27"/>
          <p:cNvSpPr txBox="1"/>
          <p:nvPr/>
        </p:nvSpPr>
        <p:spPr>
          <a:xfrm>
            <a:off x="5612960" y="359174"/>
            <a:ext cx="164660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(NONE,10,10,3)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27"/>
          <p:cNvSpPr txBox="1"/>
          <p:nvPr/>
        </p:nvSpPr>
        <p:spPr>
          <a:xfrm>
            <a:off x="7298509" y="502849"/>
            <a:ext cx="146546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(NONE,</a:t>
            </a:r>
            <a:r>
              <a:rPr lang="en-US" sz="18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5,5,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27"/>
          <p:cNvSpPr txBox="1"/>
          <p:nvPr/>
        </p:nvSpPr>
        <p:spPr>
          <a:xfrm>
            <a:off x="8534400" y="80618"/>
            <a:ext cx="184537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5x5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US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=(NONE,75)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27"/>
          <p:cNvSpPr txBox="1"/>
          <p:nvPr/>
        </p:nvSpPr>
        <p:spPr>
          <a:xfrm>
            <a:off x="7315345" y="3684571"/>
            <a:ext cx="176599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 feature maps…</a:t>
            </a:r>
            <a:endParaRPr i="1"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7"/>
          <p:cNvSpPr txBox="1"/>
          <p:nvPr/>
        </p:nvSpPr>
        <p:spPr>
          <a:xfrm>
            <a:off x="9646471" y="1203841"/>
            <a:ext cx="1284166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(NONE, 256)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7"/>
          <p:cNvSpPr txBox="1"/>
          <p:nvPr/>
        </p:nvSpPr>
        <p:spPr>
          <a:xfrm>
            <a:off x="10714182" y="1390720"/>
            <a:ext cx="106311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(NONE,2)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27"/>
          <p:cNvSpPr txBox="1"/>
          <p:nvPr/>
        </p:nvSpPr>
        <p:spPr>
          <a:xfrm>
            <a:off x="2325470" y="6515489"/>
            <a:ext cx="111319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PARM=78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27"/>
          <p:cNvSpPr txBox="1"/>
          <p:nvPr/>
        </p:nvSpPr>
        <p:spPr>
          <a:xfrm>
            <a:off x="4084096" y="6488668"/>
            <a:ext cx="99617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PARM=0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7"/>
          <p:cNvSpPr txBox="1"/>
          <p:nvPr/>
        </p:nvSpPr>
        <p:spPr>
          <a:xfrm>
            <a:off x="5670153" y="6488668"/>
            <a:ext cx="111319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PARM=84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27"/>
          <p:cNvSpPr txBox="1"/>
          <p:nvPr/>
        </p:nvSpPr>
        <p:spPr>
          <a:xfrm>
            <a:off x="7523381" y="6471790"/>
            <a:ext cx="99617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PARM=0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27"/>
          <p:cNvSpPr txBox="1"/>
          <p:nvPr/>
        </p:nvSpPr>
        <p:spPr>
          <a:xfrm>
            <a:off x="8825919" y="6449367"/>
            <a:ext cx="99617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PARM=0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27"/>
          <p:cNvSpPr txBox="1"/>
          <p:nvPr/>
        </p:nvSpPr>
        <p:spPr>
          <a:xfrm>
            <a:off x="10767040" y="2343565"/>
            <a:ext cx="1047084" cy="369332"/>
          </a:xfrm>
          <a:prstGeom prst="rect">
            <a:avLst/>
          </a:prstGeom>
          <a:solidFill>
            <a:srgbClr val="F4B08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27"/>
          <p:cNvSpPr txBox="1"/>
          <p:nvPr/>
        </p:nvSpPr>
        <p:spPr>
          <a:xfrm>
            <a:off x="9603092" y="3599272"/>
            <a:ext cx="2073003" cy="923330"/>
          </a:xfrm>
          <a:prstGeom prst="rect">
            <a:avLst/>
          </a:prstGeom>
          <a:solidFill>
            <a:srgbClr val="FEE5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(NONE, (75+1)*256)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Or…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(NONE, 19456)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27"/>
          <p:cNvSpPr txBox="1"/>
          <p:nvPr/>
        </p:nvSpPr>
        <p:spPr>
          <a:xfrm>
            <a:off x="10737647" y="4846556"/>
            <a:ext cx="1424795" cy="1754326"/>
          </a:xfrm>
          <a:prstGeom prst="rect">
            <a:avLst/>
          </a:prstGeom>
          <a:solidFill>
            <a:srgbClr val="D8E2F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REMEMBER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Different formulas for dense layers vs. Conv2D</a:t>
            </a:r>
            <a:endParaRPr/>
          </a:p>
        </p:txBody>
      </p:sp>
      <p:sp>
        <p:nvSpPr>
          <p:cNvPr id="338" name="Google Shape;338;p27"/>
          <p:cNvSpPr txBox="1"/>
          <p:nvPr/>
        </p:nvSpPr>
        <p:spPr>
          <a:xfrm>
            <a:off x="10379777" y="2691144"/>
            <a:ext cx="1955985" cy="923330"/>
          </a:xfrm>
          <a:prstGeom prst="rect">
            <a:avLst/>
          </a:prstGeom>
          <a:solidFill>
            <a:srgbClr val="F4B08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(NONE, (256+1)*2)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Or…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(NONE, 514)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2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lang="en-US"/>
              <a:t>Comparison of different kernels</a:t>
            </a:r>
            <a:endParaRPr/>
          </a:p>
        </p:txBody>
      </p:sp>
      <p:sp>
        <p:nvSpPr>
          <p:cNvPr id="344" name="Google Shape;344;p2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r>
              <a:rPr lang="en-US"/>
              <a:t>Our kernels will be learned from the data for our specific process, but here are some cool looking ones from Photoshop.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r>
              <a:rPr lang="en-US" u="sng">
                <a:solidFill>
                  <a:schemeClr val="hlink"/>
                </a:solidFill>
                <a:hlinkClick r:id="rId3"/>
              </a:rPr>
              <a:t>http://setosa.io/ev/image-kernels/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9" name="Google Shape;349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90687" y="352425"/>
            <a:ext cx="8810625" cy="6153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4" name="Google Shape;354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66875" y="338137"/>
            <a:ext cx="8858250" cy="6181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9" name="Google Shape;359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24025" y="438150"/>
            <a:ext cx="8743950" cy="598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4" name="Google Shape;364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47825" y="352425"/>
            <a:ext cx="8896350" cy="6153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9" name="Google Shape;369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1637" y="290512"/>
            <a:ext cx="8848725" cy="6276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4" name="Google Shape;374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66875" y="328612"/>
            <a:ext cx="8858250" cy="6200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Google Shape;379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7350" y="442912"/>
            <a:ext cx="8877300" cy="5972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4" name="Google Shape;384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24012" y="366712"/>
            <a:ext cx="8943975" cy="6124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9" name="Google Shape;389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457200"/>
            <a:ext cx="8839200" cy="594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3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APPENDIX: Some good links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Excellent Intro Blog</a:t>
            </a:r>
            <a:endParaRPr/>
          </a:p>
        </p:txBody>
      </p:sp>
      <p:sp>
        <p:nvSpPr>
          <p:cNvPr id="400" name="Google Shape;400;p39"/>
          <p:cNvSpPr txBox="1"/>
          <p:nvPr>
            <p:ph idx="1" type="body"/>
          </p:nvPr>
        </p:nvSpPr>
        <p:spPr>
          <a:xfrm>
            <a:off x="685800" y="2194560"/>
            <a:ext cx="3902242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“Visualizing parts of Convolutional Neural Networks using Keras and Cats”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u="sng">
                <a:solidFill>
                  <a:schemeClr val="hlink"/>
                </a:solidFill>
                <a:hlinkClick r:id="rId3"/>
              </a:rPr>
              <a:t>https://hackernoon.com/visualizing-parts-of-convolutional-neural-networks-using-keras-and-cats-5cc01b214e59</a:t>
            </a:r>
            <a:r>
              <a:rPr lang="en-US"/>
              <a:t> </a:t>
            </a:r>
            <a:endParaRPr/>
          </a:p>
        </p:txBody>
      </p:sp>
      <p:pic>
        <p:nvPicPr>
          <p:cNvPr descr="https://cdn-images-1.medium.com/max/1600/1*OfbX5Lahe8Y6NiTF_98PZg.png" id="401" name="Google Shape;401;p3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905206" y="1911806"/>
            <a:ext cx="4772485" cy="45896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4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Convolution example</a:t>
            </a:r>
            <a:endParaRPr/>
          </a:p>
        </p:txBody>
      </p:sp>
      <p:sp>
        <p:nvSpPr>
          <p:cNvPr id="407" name="Google Shape;407;p40"/>
          <p:cNvSpPr txBox="1"/>
          <p:nvPr>
            <p:ph idx="1" type="body"/>
          </p:nvPr>
        </p:nvSpPr>
        <p:spPr>
          <a:xfrm>
            <a:off x="288758" y="1668380"/>
            <a:ext cx="11217442" cy="455030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Play with different kernels! Kind of like Photoshop… this is what our convolutional layers are doing.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u="sng">
                <a:solidFill>
                  <a:schemeClr val="hlink"/>
                </a:solidFill>
                <a:hlinkClick r:id="rId3"/>
              </a:rPr>
              <a:t>http://setosa.io/ev/image-kernels/</a:t>
            </a:r>
            <a:r>
              <a:rPr lang="en-US"/>
              <a:t> </a:t>
            </a:r>
            <a:endParaRPr/>
          </a:p>
        </p:txBody>
      </p:sp>
      <p:pic>
        <p:nvPicPr>
          <p:cNvPr id="408" name="Google Shape;408;p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764631" y="2817029"/>
            <a:ext cx="7736305" cy="38771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41"/>
          <p:cNvSpPr txBox="1"/>
          <p:nvPr>
            <p:ph type="title"/>
          </p:nvPr>
        </p:nvSpPr>
        <p:spPr>
          <a:xfrm>
            <a:off x="545431" y="395405"/>
            <a:ext cx="10976811" cy="1293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Another Good Convolution Example</a:t>
            </a:r>
            <a:endParaRPr/>
          </a:p>
        </p:txBody>
      </p:sp>
      <p:sp>
        <p:nvSpPr>
          <p:cNvPr id="414" name="Google Shape;414;p41"/>
          <p:cNvSpPr txBox="1"/>
          <p:nvPr>
            <p:ph idx="1" type="body"/>
          </p:nvPr>
        </p:nvSpPr>
        <p:spPr>
          <a:xfrm>
            <a:off x="685800" y="2194560"/>
            <a:ext cx="38862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90"/>
              <a:buChar char="•"/>
            </a:pPr>
            <a:r>
              <a:rPr lang="en-US" sz="2590" u="sng">
                <a:solidFill>
                  <a:schemeClr val="hlink"/>
                </a:solidFill>
                <a:hlinkClick r:id="rId3"/>
              </a:rPr>
              <a:t>https://ricardodeazambuja.com/deep_learning/2017/03/05/easy-peasy_conv_deep_learning_two/</a:t>
            </a:r>
            <a:endParaRPr sz="2590"/>
          </a:p>
          <a:p>
            <a:pPr indent="-228600" lvl="0" marL="228600" rtl="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590"/>
              <a:buChar char="•"/>
            </a:pPr>
            <a:r>
              <a:rPr lang="en-US" sz="2590"/>
              <a:t>Whole blog post is good! Check out the video for a real-time example.</a:t>
            </a:r>
            <a:endParaRPr/>
          </a:p>
        </p:txBody>
      </p:sp>
      <p:pic>
        <p:nvPicPr>
          <p:cNvPr descr="What happens when we do a 2D convolution" id="415" name="Google Shape;415;p4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13898" y="1410887"/>
            <a:ext cx="4372826" cy="2630905"/>
          </a:xfrm>
          <a:prstGeom prst="rect">
            <a:avLst/>
          </a:prstGeom>
          <a:noFill/>
          <a:ln>
            <a:noFill/>
          </a:ln>
        </p:spPr>
      </p:pic>
      <p:pic>
        <p:nvPicPr>
          <p:cNvPr id="416" name="Google Shape;416;p4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973053" y="4177048"/>
            <a:ext cx="4159918" cy="26809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4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One more</a:t>
            </a:r>
            <a:endParaRPr/>
          </a:p>
        </p:txBody>
      </p:sp>
      <p:sp>
        <p:nvSpPr>
          <p:cNvPr id="422" name="Google Shape;422;p4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 u="sng">
                <a:solidFill>
                  <a:schemeClr val="hlink"/>
                </a:solidFill>
                <a:hlinkClick r:id="rId3"/>
              </a:rPr>
              <a:t>http://cs231n.github.io/convolutional-networks/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4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Stackoverflow example</a:t>
            </a:r>
            <a:endParaRPr/>
          </a:p>
        </p:txBody>
      </p:sp>
      <p:sp>
        <p:nvSpPr>
          <p:cNvPr id="428" name="Google Shape;428;p43"/>
          <p:cNvSpPr txBox="1"/>
          <p:nvPr>
            <p:ph idx="1" type="body"/>
          </p:nvPr>
        </p:nvSpPr>
        <p:spPr>
          <a:xfrm>
            <a:off x="685800" y="2194560"/>
            <a:ext cx="5445034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 u="sng">
                <a:solidFill>
                  <a:schemeClr val="hlink"/>
                </a:solidFill>
                <a:hlinkClick r:id="rId3"/>
              </a:rPr>
              <a:t>https://stackoverflow.com/questions/42786717/how-to-calculate-the-number-of-parameters-for-convolutional-neural-network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Visualization of a convolutional layer" id="429" name="Google Shape;429;p4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39254" y="2771504"/>
            <a:ext cx="3810000" cy="3352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